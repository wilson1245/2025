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</p:sldMasterIdLst>
  <p:notesMasterIdLst>
    <p:notesMasterId r:id="rId33"/>
  </p:notesMasterIdLst>
  <p:sldIdLst>
    <p:sldId id="256" r:id="rId5"/>
    <p:sldId id="257" r:id="rId6"/>
    <p:sldId id="318" r:id="rId7"/>
    <p:sldId id="319" r:id="rId8"/>
    <p:sldId id="258" r:id="rId9"/>
    <p:sldId id="320" r:id="rId10"/>
    <p:sldId id="321" r:id="rId11"/>
    <p:sldId id="262" r:id="rId12"/>
    <p:sldId id="307" r:id="rId13"/>
    <p:sldId id="304" r:id="rId14"/>
    <p:sldId id="305" r:id="rId15"/>
    <p:sldId id="309" r:id="rId16"/>
    <p:sldId id="324" r:id="rId17"/>
    <p:sldId id="323" r:id="rId18"/>
    <p:sldId id="322" r:id="rId19"/>
    <p:sldId id="325" r:id="rId20"/>
    <p:sldId id="326" r:id="rId21"/>
    <p:sldId id="306" r:id="rId22"/>
    <p:sldId id="310" r:id="rId23"/>
    <p:sldId id="312" r:id="rId24"/>
    <p:sldId id="266" r:id="rId25"/>
    <p:sldId id="311" r:id="rId26"/>
    <p:sldId id="313" r:id="rId27"/>
    <p:sldId id="316" r:id="rId28"/>
    <p:sldId id="314" r:id="rId29"/>
    <p:sldId id="283" r:id="rId30"/>
    <p:sldId id="315" r:id="rId31"/>
    <p:sldId id="317" r:id="rId32"/>
  </p:sldIdLst>
  <p:sldSz cx="9144000" cy="5143500" type="screen16x9"/>
  <p:notesSz cx="6858000" cy="9144000"/>
  <p:embeddedFontLst>
    <p:embeddedFont>
      <p:font typeface="標楷體" panose="03000509000000000000" pitchFamily="65" charset="-120"/>
      <p:regular r:id="rId34"/>
    </p:embeddedFont>
    <p:embeddedFont>
      <p:font typeface="Barlow Semi Condensed" panose="00000506000000000000" pitchFamily="2" charset="0"/>
      <p:regular r:id="rId35"/>
      <p:bold r:id="rId36"/>
      <p:italic r:id="rId37"/>
      <p:boldItalic r:id="rId38"/>
    </p:embeddedFont>
    <p:embeddedFont>
      <p:font typeface="Barlow Semi Condensed Medium" panose="00000606000000000000" pitchFamily="2" charset="0"/>
      <p:regular r:id="rId39"/>
      <p:italic r:id="rId40"/>
    </p:embeddedFont>
    <p:embeddedFont>
      <p:font typeface="Fjalla One" panose="02000506040000020004" pitchFamily="2" charset="0"/>
      <p:regular r:id="rId41"/>
    </p:embeddedFont>
    <p:embeddedFont>
      <p:font typeface="Roboto Condensed Light" panose="02000000000000000000" pitchFamily="2" charset="0"/>
      <p:regular r:id="rId42"/>
      <p:italic r:id="rId43"/>
    </p:embeddedFont>
    <p:embeddedFont>
      <p:font typeface="楷体" panose="02010609060101010101" pitchFamily="49" charset="-122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DE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0139AB-EF30-4FEF-8A57-3E80E4916402}">
  <a:tblStyle styleId="{0B0139AB-EF30-4FEF-8A57-3E80E49164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7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8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6:45:54.440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0 24556,'0'5503'0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6:46:43.44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24575,'-1'104'0,"3"115"0,-1-204 0,1 0 0,0 0 0,1 0 0,1 0 0,0 0 0,1-1 0,0 1 0,2-1 0,-1 0 0,12 16 0,-15-27 0,0 0 0,0 0 0,0 0 0,0-1 0,1 1 0,-1-1 0,1 0 0,0 0 0,-1 0 0,1 0 0,5 1 0,50 14 0,-33-11 0,7 1 0,-1-1 0,53 1 0,-23-2 0,-40-4 0,-16-1 0,0 0 0,0 1 0,0-1 0,0 1 0,0 0 0,8 3 0,-13-3 0,1 0 0,-1-1 0,0 1 0,0 0 0,0 0 0,1 0 0,-1 0 0,0 0 0,0 0 0,0 0 0,0 0 0,-1 0 0,1 1 0,0-1 0,0 0 0,-1 1 0,1-1 0,-1 0 0,1 1 0,-1-1 0,0 0 0,1 1 0,-1-1 0,0 1 0,0-1 0,0 1 0,0-1 0,0 1 0,0-1 0,-1 0 0,0 3 0,-1 5 0,0-1 0,-1 1 0,0-1 0,0 0 0,-1 0 0,0-1 0,0 1 0,-1-1 0,0 0 0,0 0 0,-1 0 0,0-1 0,0 1 0,-11 7 0,-9 6 0,-1-2 0,-43 23 0,18-16-1365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6:46:50.22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626 719 24575,'1'-32'0,"0"13"0,0 0 0,-1 1 0,-1-1 0,-1 0 0,-1 1 0,0 0 0,-1-1 0,-1 1 0,-1 1 0,-8-18 0,8 26 0,0 1 0,0 1 0,0-1 0,-1 1 0,0 0 0,-1 1 0,-12-9 0,-61-35 0,69 44 0,-1 0 0,0 1 0,0 0 0,0 1 0,0 1 0,-1 0 0,-22-2 0,-5 3 0,-51 3 0,55 1 0,-70-5 0,105 3 0,0-1 0,0 1 0,1 0 0,-1 0 0,0-1 0,1 1 0,-1-1 0,0 0 0,1 1 0,-1-1 0,1 0 0,-1 0 0,1 0 0,-1 0 0,1 0 0,0-1 0,0 1 0,-1 0 0,1 0 0,0-1 0,0 1 0,-1-3 0,1 1 0,0 0 0,0 0 0,1 0 0,-1 0 0,1 0 0,0 0 0,0 0 0,0 0 0,0 0 0,0 0 0,1-1 0,0-2 0,3-7 0,0 0 0,1 1 0,1-1 0,13-22 0,-9 21-105,1-1 0,1 2 0,0-1 0,1 2 0,0-1 0,1 2 0,0 0 0,1 1 0,1 0 0,-1 1 0,1 1 0,34-12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6:47:05.98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8:11:24.918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29 1 24575,'0'82'0,"1"53"0,-18 137 0,6-132 0,10 196 0,3-152 0,-2-112 0,-1 15 0,18 157 0,-14-222 0,1 0 0,1 0 0,14 36 0,14 29 0,25 54 0,-18-61 0,59 86 0,-79-135 0,1 1 0,35 40 0,54 71 0,-87-118 0,1-1 0,1-1 0,34 24 0,5 1 0,-38-27 0,2-1 0,0-2 0,33 17 0,-35-23 0,-8-3 0,0 0 0,0-2 0,1 0 0,28 6 0,38 0 0,138 5 0,90-19 0,-117-2 0,-140 2 0,96-13 0,-116 8 0,-3 2 0,1-2 0,-1-1 0,0-1 0,41-18 0,17-10 0,39-19 0,-65 20 0,98-68 0,-147 92 0,0-2 0,-1 0 0,-1 0 0,0-1 0,-1-1 0,0 0 0,12-21 0,-7 10 0,-2-1 0,-1-1 0,-1-1 0,14-40 0,-3-2 0,-12 38 0,-2 0 0,11-55 0,-15 18 0,-2 0 0,-3 0 0,-8-72 0,5 134 0,1 0 0,-1 0 0,-1 0 0,1 0 0,-2 0 0,1 0 0,-1 1 0,0-1 0,0 1 0,-1 0 0,0 0 0,0 0 0,-1 0 0,0 1 0,0-1 0,0 1 0,-10-8 0,5 8 0,1 0 0,-1 0 0,1 1 0,-2 1 0,1-1 0,0 2 0,-1-1 0,0 1 0,0 1 0,0 0 0,0 1 0,-14-1 0,2-1 0,0 0 0,0-2 0,-27-9 0,26 7 0,0 1 0,-44-6 0,28 9 0,1 1 0,-1 2 0,1 2 0,-1 1 0,1 2 0,-43 12 0,48-5 0,1 2 0,-34 18 0,9-3 0,26-11 0,0 2 0,1 0 0,2 3 0,0 0 0,1 2 0,-40 46 0,-16 12 0,67-64 0,0 0 0,-24 37 0,-1 2 0,19-26 0,2 0 0,1 2 0,-22 51 0,23-44 0,-2-1 0,-26 37 0,29-48 0,1 2 0,1 0 0,-17 49 0,-12 24 0,34-79 0,2 0 0,-8 31 0,2-5 0,6-21 0,1 0 0,2 1 0,2 1 0,-2 36 0,7 130 0,2-81 0,-2-91 0,1-1 0,1 1 0,1-1 0,2 0 0,0 0 0,18 42 0,-16-49 0,-1-1 0,2 0 0,1-1 0,0 0 0,1-1 0,0 0 0,1 0 0,1-1 0,28 24 0,-27-30 0,1 0 0,0-1 0,0 0 0,0-1 0,1-1 0,32 7 0,41 15 0,-53-14 0,1-2 0,0-1 0,0-2 0,1-2 0,0-1 0,66-1 0,-84-3 0,0 2 0,-1 0 0,0 1 0,28 10 0,-24-7 0,0-1 0,42 5 0,-6-9 0,1-2 0,110-17 0,-139 13 0,-9 2 0,0-2 0,1 0 0,38-13 0,-4-2 0,100-19 0,-130 31 0,48-20 0,-1 0 0,24-12 0,-75 28 0,0 1 0,0 1 0,35-8 0,-22 7 0,-1-1 0,-1-2 0,41-21 0,-19 5 0,-37 17 0,2 2 0,40-16 0,19-3 0,-51 17 0,58-15 0,95-27 0,-160 47 0,211-71 0,-128 52 0,-73 19 0,-1-1 0,46-17 0,37-13 0,5-2 0,-89 29 0,1 1 0,-1 2 0,61-8 0,-22 4 0,86-35 0,9 0 0,-118 32 0,0 1 0,2 3 0,77-9 0,-103 17 0,-1-1 0,1 0 0,28-11 0,-28 8 0,1 1 0,0 1 0,24-3 0,-19 6 0,216-23 0,-167 2 0,-60 17 0,1 0 0,29-5 0,5 3 0,21-3 0,108-3 0,-155 13 0,0-2 0,0-1 0,45-13 0,-40 9 0,63-8 0,24 5 0,112-6 0,-211 16 0,1-1 0,-1-1 0,0-1 0,30-11 0,-27 8 0,0 1 0,44-6 0,18 10 83,23-3-1531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8:11:27.467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1 24575,'2'3'0,"0"1"0,1-1 0,-1 0 0,1 0 0,0 0 0,0-1 0,0 1 0,0 0 0,1-1 0,-1 0 0,0 0 0,8 3 0,9 8 0,164 165 0,-92-84 0,-77-81 0,0 0 0,31 18 0,-29-21 0,0 2 0,28 24 0,-27-19 0,2-1 0,25 16 0,28 21 0,-45-30-32,45 26-1,-38-27-1267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8:11:29.751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650 0 24575,'-2'8'0,"0"-1"0,0 0 0,-1 0 0,0 0 0,0-1 0,-1 1 0,-4 7 0,-5 8 0,2-3 0,0-1 0,-1-1 0,0 0 0,-17 17 0,11-14 0,-26 40 0,-45 68 0,73-107 0,-18 21 0,-49 46 0,82-87 0,-12 15 0,0 0 0,-17 27 0,19-25 0,-1-1 0,-24 26 0,-3-4-53,-56 60-1259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7:43:46.585"/>
    </inkml:context>
    <inkml:brush xml:id="br0">
      <inkml:brushProperty name="width" value="0.2" units="cm"/>
      <inkml:brushProperty name="height" value="0.2" units="cm"/>
      <inkml:brushProperty name="color" value="#D800BE"/>
    </inkml:brush>
  </inkml:definitions>
  <inkml:trace contextRef="#ctx0" brushRef="#br0">0 48 24575,'1556'0'0,"-1418"-12"0,-1 0 0,0 1 0,3-1 0,589 13 0,-697 0 0,49 10 0,14 0 0,-65-10 0,0 1 0,0 2 0,-1 1 0,1 2 0,47 16 0,1 6 0,-32-12 0,56 29 0,-42-17 0,-32-16 0,43 27 0,-62-33 0,0 1 0,-1 1 0,0-1 0,-1 1 0,0 0 0,10 17 0,25 31 0,-27-38 0,-1 0 0,0 1 0,-2 1 0,0 0 0,11 28 0,0 0 0,24 79 0,-38-104 0,-1 1 0,-1 1 0,5 42 0,-8-40 0,2-1 0,17 52 0,-12-43 0,-2 0 0,-1 0 0,-2 0 0,3 49 0,-6-50 0,4 346 0,-10-215 0,3-165 0,1 22 0,-1 0 0,-1-1 0,-1 1 0,-1 0 0,-1-1 0,-1 1 0,-8 22 0,13-43 0,-1 0 0,-1 0 0,1 0 0,0-1 0,0 1 0,-1 0 0,1 0 0,-1-1 0,1 1 0,-1-1 0,0 1 0,1-1 0,-1 0 0,0 0 0,0 0 0,0 0 0,0 0 0,0 0 0,0 0 0,0 0 0,-3 0 0,1-1 0,-1 0 0,0 0 0,1 0 0,-1 0 0,1-1 0,-1 0 0,1 0 0,-1 0 0,-7-3 0,-5-3 0,1-2 0,-1 0 0,2 0 0,-17-13 0,-86-71 0,10 2 0,15 10 0,132 108 0,36 29 0,-51-40 0,-1 1 0,38 37 0,-41-33 0,1 4 0,2-1 0,1-2 0,0 0 0,46 30 0,-22-16 0,-39-29 0,-1 0 0,1 0 0,0-1 0,0 0 0,16 6 0,-22-11 0,1 1 0,-1-2 0,1 1 0,0 0 0,-1-1 0,1 0 0,0 1 0,-1-1 0,1-1 0,0 1 0,-1-1 0,1 1 0,0-1 0,-1 0 0,1 0 0,-1-1 0,1 1 0,-1-1 0,0 1 0,6-5 0,5-4 0,-1-1 0,0-1 0,12-13 0,29-25 0,-9 17 0,-2-2 0,-1-2 0,73-83 0,-60 36 90,-40 58-575,1 1 0,21-25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07:44:09.509"/>
    </inkml:context>
    <inkml:brush xml:id="br0">
      <inkml:brushProperty name="width" value="0.2" units="cm"/>
      <inkml:brushProperty name="height" value="0.2" units="cm"/>
      <inkml:brushProperty name="color" value="#D800BE"/>
    </inkml:brush>
  </inkml:definitions>
  <inkml:trace contextRef="#ctx0" brushRef="#br0">1 0 24575,'0'1012'0,"2"-960"0,3-1 0,3 0 0,20 77 0,-23-111 0,1 0 0,1 0 0,0-1 0,2 0 0,0 0 0,0-1 0,1 0 0,13 14 0,16 15 0,52 43 0,-10-10 0,-62-61 0,1-2 0,0 0 0,1-1 0,0-1 0,1-1 0,1-1 0,35 11 0,123 39 0,-98-31 0,90 20 0,-108-32 0,-43-13 0,0 0 0,28 1 0,-32-4 0,0 1 0,-1 0 0,1 2 0,24 7 0,-20-4 0,1 0 0,1-2 0,-1-1 0,40 3 0,98-7 0,-106-2 0,107 9 0,-28 6 0,239-9 0,-187-7 0,91-14 0,-154 10 0,44-5 0,-71 5 0,-75 7 0,-1-1 0,0 0 0,1-2 0,-1 0 0,30-10 0,-25 5 0,1 2 0,-1 1 0,1 1 0,42-2 0,-51 5 0,-13 1 0,-1 0 0,0-1 0,0 1 0,1-1 0,-1 0 0,0 0 0,0 0 0,0 0 0,0-1 0,0 1 0,0-1 0,0 0 0,-1 1 0,1-1 0,-1-1 0,1 1 0,1-2 0,-3 3 0,-1 0 0,1 0 0,-1 0 0,1 0 0,-1 1 0,0-1 0,1 0 0,-1 0 0,0 0 0,0 0 0,0 0 0,1 0 0,-1 0 0,0 0 0,0 0 0,-1 0 0,1 0 0,0 0 0,0 0 0,0 0 0,-1 1 0,0-3 0,0 1 0,0 0 0,-1 0 0,1 0 0,-1 0 0,1 1 0,-1-1 0,0 0 0,0 1 0,0-1 0,0 1 0,0 0 0,-4-2 0,-46-24 0,-184-88 0,186 95 0,-1 3 0,-1 1 0,-58-9 0,87 20 0,1-1 0,-36-15 0,9 4 0,53 16 0,20 0 0,50 2 0,-7 8 0,-41-6 0,-1 0 0,0 2 0,44 14 0,-28-4 0,137 62 0,-147-61 0,-14-9 0,-1 2 0,-1-1 0,0 2 0,0 0 0,25 23 0,9 5 0,-41-33 0,1 0 0,-1 1 0,-1 0 0,1 1 0,-1 0 0,12 14 0,-18-19 0,0 1 0,1-1 0,-1 1 0,-1-1 0,1 1 0,0-1 0,0 1 0,-1-1 0,0 1 0,1 0 0,-1-1 0,0 1 0,0 0 0,-1 0 0,1-1 0,-1 1 0,1-1 0,-1 1 0,0 0 0,0-1 0,0 1 0,0-1 0,0 0 0,0 1 0,-1-1 0,1 0 0,-1 0 0,0 0 0,0 0 0,-2 3 0,-132 130 0,24-27 0,100-96 0,0-2 0,-1 1 0,-28 15 0,-3 4 0,-49 33 0,-36 29 0,65-54 85,53-32-327,0-1 1,1 1-1,-1 1 0,1 0 1,-14 13-1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030F9C22-4B68-FBA7-BBA6-123EFDBA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EA3E6DAC-FB3B-DF72-65B0-F09DC8F5F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A18525ED-751A-D55F-1B5E-3A021FBFC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022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D0C23C1C-790B-75A7-042D-480E8B78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E0288A42-6DBD-4450-102E-B083D8AF61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D2DE1E0C-38DC-22A8-BFE4-99030D889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693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BA2AAB8F-248C-7BE5-AAD3-D856DD96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1B887E66-BB56-F407-8EC4-7F32E32EE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3F5ACB3F-436C-BF5F-5669-F69268F95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2967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1083FBE9-C02C-AFA5-7AF4-E6782515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EEB0AD1C-24B8-1EBC-06F0-A3EEEF2CAD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ACC255F0-EDB6-FA3F-D7B4-AB614D0BBA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788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203A6B23-5F75-E4F1-91BF-8A376342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A577D053-A406-8C0A-A273-EFC1CBA5A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DC252F3E-0ECE-4499-B068-C2E1A0A1F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497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51407478-500D-61AE-9209-64975F87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04A8CDF5-2833-E424-A151-9128411C69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E5F8C300-7AB5-9AF9-683B-7C547A376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966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76480EAA-6B81-1040-CAF0-9B6C87F6D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73FA201E-BB25-781B-A457-9000136DA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68CBB4A2-A0B3-758C-B62E-EB36F6826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41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1" r:id="rId8"/>
    <p:sldLayoutId id="2147483669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0.png"/><Relationship Id="rId11" Type="http://schemas.openxmlformats.org/officeDocument/2006/relationships/image" Target="../media/image11.png"/><Relationship Id="rId5" Type="http://schemas.openxmlformats.org/officeDocument/2006/relationships/customXml" Target="../ink/ink6.xml"/><Relationship Id="rId10" Type="http://schemas.openxmlformats.org/officeDocument/2006/relationships/image" Target="../media/image10.png"/><Relationship Id="rId4" Type="http://schemas.openxmlformats.org/officeDocument/2006/relationships/image" Target="../media/image130.png"/><Relationship Id="rId9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3.png"/><Relationship Id="rId7" Type="http://schemas.openxmlformats.org/officeDocument/2006/relationships/image" Target="../media/image1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24.png"/><Relationship Id="rId4" Type="http://schemas.openxmlformats.org/officeDocument/2006/relationships/customXml" Target="../ink/ink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1468464" y="2002897"/>
            <a:ext cx="5557435" cy="10079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zh-TW" altLang="en-US" sz="40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智能充電樁管理與應用</a:t>
            </a:r>
            <a:br>
              <a:rPr lang="en-US" altLang="zh-TW" sz="40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0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專題報告書</a:t>
            </a:r>
            <a:endParaRPr sz="40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7025899" y="3223967"/>
            <a:ext cx="1867378" cy="19195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sz="2400" b="1" dirty="0"/>
              <a:t>    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教授 ：劉國有</a:t>
            </a:r>
          </a:p>
          <a:p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資工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4B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吳哲維　</a:t>
            </a:r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資工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4B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王竑勛</a:t>
            </a:r>
          </a:p>
          <a:p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資工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4B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吳偉誠　</a:t>
            </a:r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資工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4B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連翊安</a:t>
            </a:r>
          </a:p>
          <a:p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資工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4B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杜冠霖</a:t>
            </a:r>
            <a:endParaRPr sz="1600" b="1" dirty="0">
              <a:solidFill>
                <a:schemeClr val="accent2">
                  <a:lumMod val="1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723750" y="98557"/>
            <a:ext cx="7696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A8113B9-5EF8-4E28-C7E6-94BA807F484F}"/>
              </a:ext>
            </a:extLst>
          </p:cNvPr>
          <p:cNvSpPr txBox="1"/>
          <p:nvPr/>
        </p:nvSpPr>
        <p:spPr>
          <a:xfrm>
            <a:off x="300963" y="813824"/>
            <a:ext cx="477739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一、緒論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研究背景與動機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研究目標與核心問題</a:t>
            </a:r>
          </a:p>
          <a:p>
            <a:endParaRPr lang="zh-TW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二、系統需求分析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使用者角色分群（一般使用者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經銷商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平台管理方）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角色功能與系統對應需求總覽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功能性需求（系統必備功能條件）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非功能性需求（穩定性、易用性與錯誤提示導引）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三、系統架構與設計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系統架構總覽（前端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後端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資料庫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 API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 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功能統整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四、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服務設計與模組分類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會員驗證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（註冊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登入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登出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密碼重置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Mail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驗證）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充電預約與訂單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（開始充電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預約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付款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結束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取消）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充電站管理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（後台設備查詢與新增）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計費規則與會員升級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（方案查詢與訂閱）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9CD9C82-F59A-26C9-9487-F7D8CA01B218}"/>
              </a:ext>
            </a:extLst>
          </p:cNvPr>
          <p:cNvSpPr txBox="1"/>
          <p:nvPr/>
        </p:nvSpPr>
        <p:spPr>
          <a:xfrm>
            <a:off x="4886632" y="813824"/>
            <a:ext cx="42573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五、系統實作成果展示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 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前端介面功能成果（預約、查詢與統計圖 表呈現）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後端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與資料串接成果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TW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六、開發歷程問題與解決方式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 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本機端啟動錯誤（改用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PHP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原生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Server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取代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artisan serve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 API 404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與錯誤提示改善策略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預約流程過於複雜的體驗優化方向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TW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七、專題差異比較與系統優勢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 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與一般共享充電平台的技術差異</a:t>
            </a: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本專題的特色與優勢定位（能源管理、共享出租與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AI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排程方向）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TW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八、未來延伸規劃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商業化與產學合作市場拓展方向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AI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預測排程與電力功率調整應用構想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Flutter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行動 </a:t>
            </a:r>
            <a:r>
              <a:rPr lang="en-US" altLang="zh-TW" sz="1200" dirty="0">
                <a:latin typeface="楷体" panose="02010609060101010101" pitchFamily="49" charset="-122"/>
                <a:ea typeface="楷体" panose="02010609060101010101" pitchFamily="49" charset="-122"/>
              </a:rPr>
              <a:t>APP </a:t>
            </a:r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擴充功能規劃</a:t>
            </a:r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TW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九、團隊心得與分工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31D073-CA42-958E-CCB8-CF77D804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07" y="1115961"/>
            <a:ext cx="7139448" cy="2996727"/>
          </a:xfrm>
        </p:spPr>
        <p:txBody>
          <a:bodyPr/>
          <a:lstStyle/>
          <a:p>
            <a:pPr algn="l"/>
            <a:r>
              <a:rPr lang="en-US" altLang="zh-TW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研究背景與動機</a:t>
            </a:r>
            <a:br>
              <a:rPr lang="zh-TW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隨著電動載具市場快速擴張，充電設備需求逐年提升，但現有充電系統普遍面臨：</a:t>
            </a:r>
            <a:b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充電樁資訊分散、查找不便</a:t>
            </a:r>
            <a:b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充電流程缺乏統一管理平台</a:t>
            </a:r>
            <a:b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設備閒置時段無法產生額外收益</a:t>
            </a:r>
            <a:b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預約與付款流程操作複雜</a:t>
            </a:r>
            <a:b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 </a:t>
            </a:r>
            <a:r>
              <a:rPr lang="en-US" altLang="zh-TW" sz="1400" dirty="0"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串接錯誤處理不明確、導致資料讀取失敗</a:t>
            </a:r>
            <a:br>
              <a:rPr lang="en-US" altLang="zh-TW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b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因此，本專題以「智慧共享與能源管理」為核心，打造一個整合 </a:t>
            </a:r>
            <a:r>
              <a:rPr lang="zh-TW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前端、後端、資料庫、</a:t>
            </a:r>
            <a:r>
              <a:rPr lang="en-US" altLang="zh-TW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RESTful API</a:t>
            </a:r>
            <a:r>
              <a:rPr lang="zh-TW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、經銷租借模式與 </a:t>
            </a:r>
            <a:r>
              <a:rPr lang="en-US" altLang="zh-TW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SDG </a:t>
            </a:r>
            <a:r>
              <a:rPr lang="zh-TW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永續目標</a:t>
            </a:r>
            <a: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的充電管理平台。</a:t>
            </a:r>
            <a:br>
              <a:rPr lang="zh-TW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TW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7283CC-D5DE-039B-8D35-27BB2356B44E}"/>
              </a:ext>
            </a:extLst>
          </p:cNvPr>
          <p:cNvSpPr txBox="1"/>
          <p:nvPr/>
        </p:nvSpPr>
        <p:spPr>
          <a:xfrm>
            <a:off x="1144231" y="622861"/>
            <a:ext cx="4579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緒論</a:t>
            </a:r>
          </a:p>
        </p:txBody>
      </p:sp>
    </p:spTree>
    <p:extLst>
      <p:ext uri="{BB962C8B-B14F-4D97-AF65-F5344CB8AC3E}">
        <p14:creationId xmlns:p14="http://schemas.microsoft.com/office/powerpoint/2010/main" val="98075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FB877B-28D8-102E-5B33-844CD4FB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108" y="1571590"/>
            <a:ext cx="5884607" cy="2258073"/>
          </a:xfrm>
        </p:spPr>
        <p:txBody>
          <a:bodyPr/>
          <a:lstStyle/>
          <a:p>
            <a:pPr algn="l"/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本系統希望解決的核心問題：</a:t>
            </a:r>
            <a:b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建立可依角色管理與存取資料的平台架構</a:t>
            </a:r>
            <a:b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提供附近充電樁查詢與時段預約功能</a:t>
            </a:r>
            <a:b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整合付款與個人使用紀錄查詢</a:t>
            </a:r>
            <a:b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允許業主與經銷商在設備閒置時進行出租，創造被動收入</a:t>
            </a:r>
            <a:b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  <a:sym typeface="Wingdings 2" panose="05020102010507070707" pitchFamily="18" charset="2"/>
              </a:rPr>
              <a:t>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改善 </a:t>
            </a:r>
            <a:r>
              <a:rPr lang="en-US" altLang="zh-TW" sz="1600" dirty="0"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串接錯誤、</a:t>
            </a:r>
            <a:r>
              <a:rPr lang="en-US" altLang="zh-TW" sz="1600" dirty="0">
                <a:latin typeface="楷体" panose="02010609060101010101" pitchFamily="49" charset="-122"/>
                <a:ea typeface="楷体" panose="02010609060101010101" pitchFamily="49" charset="-122"/>
              </a:rPr>
              <a:t>404 </a:t>
            </a:r>
            <a: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提示與流程導引機制</a:t>
            </a:r>
            <a:br>
              <a:rPr lang="zh-TW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TW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395C900-A67C-6B76-B1EC-D0D8D8F0C226}"/>
              </a:ext>
            </a:extLst>
          </p:cNvPr>
          <p:cNvSpPr txBox="1"/>
          <p:nvPr/>
        </p:nvSpPr>
        <p:spPr>
          <a:xfrm>
            <a:off x="1178642" y="962072"/>
            <a:ext cx="4579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研究目標</a:t>
            </a:r>
          </a:p>
        </p:txBody>
      </p:sp>
    </p:spTree>
    <p:extLst>
      <p:ext uri="{BB962C8B-B14F-4D97-AF65-F5344CB8AC3E}">
        <p14:creationId xmlns:p14="http://schemas.microsoft.com/office/powerpoint/2010/main" val="230826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6729208" y="3743075"/>
            <a:ext cx="2414792" cy="1400425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CD06A96C-5F7E-B3DF-F290-1922EBE2CCFB}"/>
              </a:ext>
            </a:extLst>
          </p:cNvPr>
          <p:cNvSpPr txBox="1"/>
          <p:nvPr/>
        </p:nvSpPr>
        <p:spPr>
          <a:xfrm>
            <a:off x="798871" y="203696"/>
            <a:ext cx="1715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系統需求分析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8DA1EC-BA64-AEFE-650E-1FAE7D5767E6}"/>
              </a:ext>
            </a:extLst>
          </p:cNvPr>
          <p:cNvSpPr txBox="1"/>
          <p:nvPr/>
        </p:nvSpPr>
        <p:spPr>
          <a:xfrm>
            <a:off x="1061720" y="5601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角色需求分群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DD56FF8-4A28-6945-D370-217C68834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396"/>
              </p:ext>
            </p:extLst>
          </p:nvPr>
        </p:nvGraphicFramePr>
        <p:xfrm>
          <a:off x="949009" y="1036742"/>
          <a:ext cx="7624720" cy="256540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3812360">
                  <a:extLst>
                    <a:ext uri="{9D8B030D-6E8A-4147-A177-3AD203B41FA5}">
                      <a16:colId xmlns:a16="http://schemas.microsoft.com/office/drawing/2014/main" val="1948791142"/>
                    </a:ext>
                  </a:extLst>
                </a:gridCol>
                <a:gridCol w="3812360">
                  <a:extLst>
                    <a:ext uri="{9D8B030D-6E8A-4147-A177-3AD203B41FA5}">
                      <a16:colId xmlns:a16="http://schemas.microsoft.com/office/drawing/2014/main" val="4164998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需求項目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829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一般使用者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註冊登入、查詢充電樁、預約時段、線上付款、查看充電與付款紀錄、修改或取消預約、設備回饋評價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98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經銷商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管理名下充電設備與紀錄、匯出營收資料、查看使用頻率與金額統計、接收維修與異常通知、處理設備問題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60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平台後臺管理方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查看全平台使用者與經銷資料、查詢所有設備與營收綜合報表、調整經銷與設備配置、系統權限管理與監控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7741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6EE59500-DDA6-09CC-F454-CCFD6064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D70D3A2A-88E4-972C-97D8-AFC5C3A74B96}"/>
              </a:ext>
            </a:extLst>
          </p:cNvPr>
          <p:cNvGrpSpPr/>
          <p:nvPr/>
        </p:nvGrpSpPr>
        <p:grpSpPr>
          <a:xfrm>
            <a:off x="6729208" y="3743075"/>
            <a:ext cx="2414792" cy="1400425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7782377A-AAE5-40F4-626A-74CA3674396C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DFA5450E-C7D6-5207-76A3-D0F39A184720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534E8771-BEE5-00BE-4A70-1CA9A7237C9B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9A86AA3E-6E68-C52E-F125-C95A5EEA0B5A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2C676D85-4374-E2E6-5FFF-9D375BEF273B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CED536D4-22F9-931B-01B3-9AA50C2710A8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51225552-09EC-DF0B-B74D-D7AB9049CE46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72352187-27E7-69CC-4C4D-A681FDF53B22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0B184D20-7766-70E1-83D8-9BD18F304CA6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DE3B9CEA-B40B-D6A1-25B2-BD2A1EA26978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BBA9A162-DCE5-28CC-09DA-9CBED81258FD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61887B9A-E7BA-2284-8D80-1238DB47EF65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705F411E-838E-17AF-08D2-7165D7CDD186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2082163A-26CC-325C-4D8E-12E44D37957F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A5B8D273-AA30-8A90-C031-379A84F43A4E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043F302E-4105-A9E2-E991-5854C5E6CC87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746AA3DD-629B-9334-5D04-922667617743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AB079C41-2D7C-953C-9246-81CD88D293AD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7FDC6BE0-36A2-5E79-B423-694028FDA259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F0DB6F22-70BE-6EE7-BB69-6FC03BBD8CBF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515DBAFE-3EE0-7569-E60F-DE646115AAFF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2BF52E20-6295-40A5-E5BB-13A8CC743C23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D3BA121E-E73B-DBA9-3E04-084A514BE2DE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99BB5ABD-4026-E501-2056-221222BFC844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B22CC2BC-27C8-7721-FF60-D02170E4EB93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C2D23745-60C5-F6A3-B335-4C4A93836DCF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3F1C9FCD-8629-1B6D-F8B7-A5148156D62F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057C54A7-405F-E997-C049-6D55B0C40843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D83C81A4-9C94-DCB0-E452-3379C0FD891D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13EEF516-F0EF-3229-E36C-BBA05DCEA389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9C0A5FB4-2D47-CE42-34C1-B7F770456684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0B01C3E2-B4A7-17FF-6D95-D425D097B200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5D61F9CF-3B1A-979A-5C14-D03CBB903FCD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7D4C5179-516A-5C1E-2340-13D7CCFEEB64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54BD4166-BF8E-2CA6-620F-FCEB42CCB899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EE85F1E4-F8A3-FDDD-9E23-01F98E963A92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CB88E53E-4D43-403C-6CA9-565E308DF765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44B27EF4-C88F-BBC1-F752-3ACF3275D43A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0A48F8AA-1AA3-451A-4540-BE1616957820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1D390AAC-8361-CE53-893A-001127761D7D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0537F0EF-B801-CEB8-A1ED-1AF200C432F9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F97C4C8C-DAB2-56EA-3089-44542000149D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2021A94C-47A9-5A71-1489-FD61BFE0A659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6618C9D0-DBF9-15D8-B9E0-8D956EB7B607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D8137598-1A20-8D37-6F35-A987D1C888B3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BC981B92-9E3B-77FD-F73B-CAA034E5600C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B0A77301-988D-5B28-B75B-886571D788E0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970BA5F9-B499-6710-D1B5-0B8149E45623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A82EB645-DDFA-4374-FE88-8B87B0C21182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BA6E7B17-24C5-E2A0-E933-BDD8F184132A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4FE8CC18-16EA-46B3-1B6A-7B7C0B50C014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A470A10F-EF8F-C5A9-6D4B-F10187B67CC0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033CB867-E70C-C100-4ABC-B0C19161EDEB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ED313197-C801-1668-9D21-A68F4EE83456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D3CF60FB-80CD-F202-6614-ABA6C5E4C8A5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167A97E8-9D9F-D4C7-38D1-1EDECA5A1478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F8D015BF-117B-57B4-1640-F2B3CBB241F4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5883FEEF-5FF3-BFFC-126F-6A57C7DB6967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2F21A250-52B1-C004-EFB1-602901662DCA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C37BB262-2553-42A6-AE47-C42D3067FD92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05B992B4-3752-3C77-8193-CDE7D6A9653C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142DD31E-9E53-D2D5-19C3-CE174137DD69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200D62FD-6F7F-FA9A-FC5F-4FF7BF0967AB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608C1A47-43FB-B254-E0F0-4D06AC64915F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10DD79C4-DA44-F8C6-2247-7678FEDC675D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09F3114E-6A18-A6E4-9C96-1068660F8D96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1D1A8B9F-BE0F-4744-DDC3-C2516279D804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807AB71E-F798-2BBB-CF7B-2156B7201618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BC06114F-F857-EAEB-884A-7366ACED612B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B0A0DE41-A5AC-AAD5-5057-5BE359ACB6C2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A49906AB-82E2-5919-F2C2-C74A2F6F0A01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D1A1632D-891E-A70E-2B62-141FD2864598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F4824BB7-9041-C4E6-E7A7-0D05EFE3C50E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02CDB8F1-5D3C-28EF-3C86-4CCD1DFB3377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CD6CFAC2-3C20-D89E-AEB9-393673DCC2A4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E4DF8185-F219-9270-1060-7845BB6D9BB7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FC00B297-8C97-9ADA-789C-B0C5EC4E3F93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77E2F98F-F395-573D-2DC6-769D1D4B3E21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97AEEDA7-F395-C1A4-B84E-CCBE45FE3779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49074E1C-27D5-346B-1DEE-8F12CAC3C360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C9F5EE7C-0C2D-198D-A176-E9803F8187F1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ACE00772-4C0A-CB66-C963-0252F39BCFDC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63A5E8A4-576F-1934-6E1C-BDB85E0E2FA3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F6DFDB69-1232-7CED-975D-69A9208AE1F7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F4BD71BC-E9E2-0D19-DC3C-371ECD8C063D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E46A1811-6D4A-D7B4-EE61-E83C15D021CE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A9A42BA3-933A-CE51-8F09-621F355C674D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2E820241-4A6B-F798-3C34-1132C502DC30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55A9493C-C065-6B0A-E5B5-AF7D663AAEF5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1A257F95-45C5-E71F-CCF4-0F74E137E410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46B70F01-900C-4F93-71C2-095E0D89916F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6A37A008-372F-9DD9-10C7-C7ABF4909421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617E0974-AC2F-F5ED-1794-8209601F198B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BF8F5A3B-C944-8D1C-0540-842D12A8A856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406FEA59-584D-D113-A1C4-AB54B6E516EA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32664006-234F-0397-1B24-27460AD38549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25F08169-839C-46CD-4CDB-14BEA2ABF43F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8C37DC73-ECD9-2DC8-343A-B6A8BE257368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E903B597-0C79-C273-6555-5F7B3F2E4112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6BDB36F5-A4AA-BA00-68D3-BF6BEA9F6139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751997E4-F9A0-E323-3759-CE82D21E6BD0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C8B0D7F0-87A1-EE9C-BF9A-703DBDDEC244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BFB4255E-5FF8-D2A5-A98A-BB8036819CF7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450D30F7-0B3D-F579-BE95-516E66657611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6B0BFA72-7BA0-23D8-31C3-8AF4156D10D6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D928EBD0-1E47-E283-3379-48C7E6142389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767AB1C7-72F2-E74D-3068-8B12723EA5D3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E2268879-7756-F45C-4751-B751C93B1318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D6A928AD-B691-8BF0-8C60-41DEDA2B248F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A77D40A6-FC6B-5DBC-4055-B42B8852AFD1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F0613AE3-C51A-E683-7C8C-27A7D357C622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211BB54B-B646-19B5-41A1-891EA6DE5445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D322C470-8EE1-6F44-72E0-D033D94BBB7E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8B64267D-5771-4E77-23F1-9E661482DA88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979EEFF9-2240-127B-F3E7-3BB4A038C8CC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899752EC-6CF9-F8C9-CE17-F9DEA965D5CA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5D3BF858-72FF-5879-266E-45C3A88FDC0E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AD13B6BF-7D01-42AF-E33D-220C2D6D40B3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BBBB4D65-57C8-A0C6-400B-C0A1ABE34CCD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256E0BEF-AEAA-CCA7-FEF3-3221AD42340C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A44A5BC6-012F-B2BD-716E-AC8D82039923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26D727EA-FC57-D0FB-9A9E-4246A9855DBE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6BCCDF89-0CD2-A045-3C75-1B27F368ECEA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85934B70-10BA-ED43-5541-2E5DF728E9D4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C5FB296B-284D-35E6-F3CF-0616166D7E8A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FD543680-2C45-7E38-5292-6D9291930983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06708E60-736C-3B68-3BA3-AFF45B40ED84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DB681C68-5B14-E010-6465-B7BF4B1B917B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40A3B538-44D8-DD0B-E5B4-E362E2558725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DEC19CFF-3A11-1CD3-CC12-0393653790AD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4D339305-DD40-2EE6-E16C-A7A8A71592B8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0594C012-CE06-1C07-7575-76FDFAC20099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459F79E7-81A1-5B4A-7A33-8D2EA1CD01BC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1728C829-8EBC-A70D-2624-C180F01A8AA1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9959A151-CCB3-F24F-E95A-90AB33FF4B2D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FCAC1B55-3389-77EE-623C-574B4B4760AC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67010317-D6C5-5345-91AD-1554888E5399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45AE9005-C415-5748-B4AA-7046AC9F8752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511A7DD6-DF76-42D9-723D-E5AEAEA63D03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C6F72176-246A-CA28-56B6-5B8A6323926D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BAEADC5A-0F24-B9C9-9778-57A17DDBAC30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B101ACDB-5D3C-3E99-AA75-CD366EE4D36A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B88195F6-56D2-66DA-F8C3-4ADFA0BDF1F2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4F695293-9EEE-6E98-7E3A-B22A4F922746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046A72E7-9B0F-0E5B-C3AB-41DA447383C9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805E74B5-8F6F-6ACC-D8CF-D1E7C37FC64B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31B765D8-3013-3A8F-7562-FFE818D2629C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7FE5033E-5587-E3D6-4666-DF48FB8E2F9A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3CA16554-38E4-1E40-9097-17BD5EE16EE3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8071A23F-13CB-E706-DF0C-BD0E51763E1A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B11972BF-8C41-E46B-E961-6C72A0C40276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D119D6F9-F099-0926-1C69-D440110E7340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A140DC5F-7551-7F93-578B-E955C35E2D37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F3F7EAAF-D653-3158-BA79-B97EB65A7FE8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FA0E7E58-0D2C-8B93-D689-BB3E82F01775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68FCE55A-EEEE-23C7-9492-49833F4E5E22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A50490FB-7A7E-6E2F-AE66-BD3211B39E93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FE5BDE76-823C-F38B-82B1-8A3F86931F8C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71B36511-63D2-1FD9-BF0E-79E97D3ADB5E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DBCE4504-F45F-0778-19F4-E86286AF6ED2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1B079FB5-D596-6833-E255-9D3AFA056C9E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1E7EA0B5-CB62-9194-841C-F5FE69E693A3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B286B210-4F1F-6519-D841-38C54B80956C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E689A2B2-86AA-4A24-3CDB-AD009E43194E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4DF8D041-61AB-2354-B6E3-51575064D3B8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E5B9638D-2F2C-12F7-65A0-4E2A5565AB22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FD8E442B-F259-0D0F-D73F-CF19BF6752D5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2FDCF42B-6B4E-5084-94EC-20AE772212B5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2BDCF0AD-F78F-7AFF-8A70-776DE6A8C3D4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EAB871DC-90B0-7CC8-7075-1E7CBB14EF16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E4D4215D-574F-9238-ED78-018D58BDCAAA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4B95C9E4-76E0-CB38-5F98-8282631648F7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BE707EC4-7CD1-39C7-DEE7-C6E209A65F4B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1E152BE8-B7E7-4189-FADF-CB22F664A5F2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0E1BB882-1196-4B2D-6646-361FD71FE91B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F4F0E785-CF59-A3FF-5D4C-CE2AB8D2A486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AA8C053F-DABE-5B0F-D355-D2C964C21FD2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95494CDE-9827-907A-A727-5490260685CF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860ECD75-F6B1-6ADA-DF1F-2EE3518F3987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7B3887EC-B82A-EED2-B98D-240C89009D45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2710CFDE-6691-71EC-EF40-CEEB56FD2A09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97D67800-DF65-9A7B-04FA-35112DE1D744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3FCB9A1D-602D-A243-CDB9-E41FAC91BD80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4D8ACAC2-4CB1-B3B0-E1D4-CDBFF251FA17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F0F6E0DB-82E2-3B6F-AA98-EE8D74BFB39F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C6520918-8DA4-0286-0760-DCE8D3C37301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266B30E7-523C-F556-4F5C-9734379EA362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619A45F8-AC86-6402-0374-096F5574F9AB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A75D0681-84EF-541E-C39B-F68146453E9F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296338D1-A92B-12BC-9A36-5822AAB02F6D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88B4C282-31B1-68C9-008B-686531CC5B53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BFE1A9B5-D5BC-7F6A-9B45-3BFD43E32AA7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14FAF2E7-F04E-4A48-46F5-6AFE519F44E5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7B88D908-0A45-C4A4-D8BC-C8E597A526B2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8D496C7C-0261-B810-BBB8-6B1DF57DB84B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AF36DFE4-A99F-BC57-CCDD-C04358D1C30F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0807D55F-86B8-75E4-4A01-BCACC860EB80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623B1198-127C-4477-A2A5-98EDEFE12EC1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253E5D50-EAF6-5CFD-0EC2-13B7814ED268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58BD84B5-23ED-8D81-0773-E7016179A8F3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23D76BEE-2231-FDC8-D8E6-493F0559663B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1AA953C1-4039-159C-171E-66D427B804B0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FD09EE41-B908-BE8F-9C11-73086618D75C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512B5726-6D7A-C7F1-6D4A-06E7D24E6177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4743F38B-4E05-F9AE-2BC1-1467C16006A5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E7765284-7760-B58A-AD2E-A262BE3F66F5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7F128960-5F50-47FB-0808-BAAD68CFE6EA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CC922645-9A48-7F4B-4FE8-D5BA24C1897E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704D885B-DF7B-8510-286C-3F7BD78304B2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F90E6D8D-B243-7744-E3CE-0C377BEA2981}"/>
              </a:ext>
            </a:extLst>
          </p:cNvPr>
          <p:cNvSpPr txBox="1"/>
          <p:nvPr/>
        </p:nvSpPr>
        <p:spPr>
          <a:xfrm>
            <a:off x="798871" y="203696"/>
            <a:ext cx="1715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系統需求分析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158C17A-7266-BB2D-5E40-B4591BF24A3A}"/>
              </a:ext>
            </a:extLst>
          </p:cNvPr>
          <p:cNvSpPr txBox="1"/>
          <p:nvPr/>
        </p:nvSpPr>
        <p:spPr>
          <a:xfrm>
            <a:off x="1061720" y="5601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功能性需求（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Functional Requirements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015A1AE-DFD9-D55F-046C-7BC0CE0D8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394977"/>
              </p:ext>
            </p:extLst>
          </p:nvPr>
        </p:nvGraphicFramePr>
        <p:xfrm>
          <a:off x="798871" y="1134602"/>
          <a:ext cx="7376652" cy="259588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3688326">
                  <a:extLst>
                    <a:ext uri="{9D8B030D-6E8A-4147-A177-3AD203B41FA5}">
                      <a16:colId xmlns:a16="http://schemas.microsoft.com/office/drawing/2014/main" val="700750010"/>
                    </a:ext>
                  </a:extLst>
                </a:gridCol>
                <a:gridCol w="3688326">
                  <a:extLst>
                    <a:ext uri="{9D8B030D-6E8A-4147-A177-3AD203B41FA5}">
                      <a16:colId xmlns:a16="http://schemas.microsoft.com/office/drawing/2014/main" val="546784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需求項目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系統功能對照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029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使用者管理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帳號註冊、登入驗證、</a:t>
                      </a:r>
                      <a:r>
                        <a:rPr lang="en-US" altLang="zh-TW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Token 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權限控管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18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充電樁查詢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位置清單回傳、地圖裝置顯示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23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預約管理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時段預約、修改、取消、流程提示導引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440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付款機制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整合線上信用卡、手機支付 </a:t>
                      </a:r>
                      <a:r>
                        <a:rPr lang="en-US" altLang="zh-TW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</a:t>
                      </a: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入口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1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資料回饋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使用者回傳設備狀況與評價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939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營收分析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經銷商營收報表與簡易統計圖表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00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59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6A90B476-BBBF-8C8B-E730-9D0C9CD6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20B20EE9-120B-BA40-2E80-1789E789F588}"/>
              </a:ext>
            </a:extLst>
          </p:cNvPr>
          <p:cNvGrpSpPr/>
          <p:nvPr/>
        </p:nvGrpSpPr>
        <p:grpSpPr>
          <a:xfrm>
            <a:off x="6729208" y="3743075"/>
            <a:ext cx="2414792" cy="1400425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D853283F-1BD1-DE2D-5A00-1F9D9569B3E8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F4D9B3AC-DCFF-7531-B60E-3C55D0BC2575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35B9DA46-DA48-DBE2-EAFC-4E2E0FE8304B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C813FCB3-E0C5-92BA-8687-EF95A0F130D4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AC514361-AFA3-B2F3-1FDC-AE1914C5D102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8844851C-2C90-3C35-42B9-BA9A33453698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5CF32DE9-7B50-00B1-F4C2-5D805520DA75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33712BD9-7358-346F-C23B-9DDF9F4AF733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7D9B156B-807C-8C8C-D535-5781D40DC918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9C13B473-B5DF-4711-ED85-37B39AADF5C2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D2D64EEA-391F-0741-844E-5EBFEC16FF80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A97AC291-85DA-C301-E48D-9EC9CFCEAF36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E77A3A0F-E077-4C71-0DC4-EC396AFFA903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ECF64819-F35B-BB2C-DC33-0D7AD7E6E843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EE4FF909-A647-129F-775E-009814496137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33938288-3874-6236-A2BE-2C8655C4E3E1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FF2EFB2A-188E-3332-530C-318F107B765B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EC91C314-8394-DE78-5773-DBA459C5181A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8A97EA2B-3C3D-BC2B-FB24-6ECCEF8563B2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0F0CC6F4-E3F5-9CF7-00FD-5EE8C38FE0BD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371476E3-4D01-F4EF-F638-53B57D98BD7E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E9EC19D2-7A52-CCD7-175B-2A8C59D69214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377E78E5-E02F-1B13-9BBC-FD3F3F34ABEF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A0266680-C22E-F537-7F7D-551F103C36A0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19D9A7A0-E0CC-A33F-B25A-CEA86C3AAFFE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1E3844E5-DDB3-A3A2-A59E-0A41800FE71C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FC5F0A17-D8BE-09BE-47D1-19C91984F41B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9F92D79E-2448-3F7B-69B8-81E4306910FD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5256EC09-9D48-9773-9C35-E28EF31BD208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3E0A93A0-A3E0-6134-F931-FF0BE153E875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1E71BC97-FEC3-4DE5-7B96-5DB6C3410A66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72ED8625-1FCA-A823-349D-332CE6A2156B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338FDA47-D9D3-3162-F074-C5C91CB951E1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78BFC36E-9C5B-60D1-F4AF-78D6182924BC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8581A9B4-8BE5-8A75-290B-1AA5E80E561F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D7A502D3-9864-1CF0-9424-B8932841305D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FF01D804-1B18-A504-B361-B8FAA88556EB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0BBB0DEA-1D51-2288-F07B-2DBF3061986B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C4182681-6AE6-6053-B826-3AB1A0E4EC8B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A5369F87-F1D2-4C0A-D86B-130094C7A237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CECE324D-D254-C4D3-B932-6243CE09B333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D613A837-E074-AA86-6C46-20230F23540A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AA0E7F86-2319-D7E9-DC32-9CB797B0AA92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1A4CC9C7-666C-7F61-05B1-9E2F2A57E9DA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4456EC93-F0FE-386C-B443-5186117AB863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AAAC5085-8BA4-9600-08FD-F8A7508DE8CE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61CED55E-BBCB-0545-EE2A-51F90A6642E7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4DC03417-F9D4-C4A3-4587-93B09DF274C9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9757BACF-B253-9287-C3D5-331D9FCE8471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E6BE5B95-9410-4D62-3390-C7E21C198854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9B1CAE66-1971-0DA9-75B9-644B1B4FADAC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01208D5C-94D1-9E13-71A5-E554DE0037F6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046C2AAA-4C26-F27A-E9E2-BCD634C871B4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F1D1487F-1C76-7157-C61F-63B94EAFC213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4CD61A38-53B8-C951-C037-D741F9218F7C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F9B96C8D-F8C5-0225-AB84-BBBFE5478686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91234B5F-C549-9629-89BD-C067EA0F659C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2FA08288-672A-557E-A6F0-24EBCE9B2421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7DC98E64-E9C2-8DC8-FBDE-38A25F1F1CA6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5930ABE5-EE9E-B35A-442C-0742626AB84E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C2BC2B9A-5417-FE9E-C27E-ED713EA2FCE9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AED23C30-260F-3128-BE6F-E11B725E0117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6CEEB3D7-C0BA-E983-C458-A901DC6B8706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7FE06F3E-CA12-DB08-AF4F-669C7822762A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37E19369-AB84-A2FB-068B-1BBFECF923F9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ADE0599A-FC6D-CEE4-E776-FBED2C275A12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D0177B07-3A94-F457-B639-AAFADE6468B2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47400846-98F9-258F-7DB6-E2F7E18B3786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35132D75-8332-555C-D137-55454424CBB3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E3EAC9FF-C6D7-66C2-1B22-4DAE30AEC11F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E22ED950-835E-2179-0026-5D97A4591D90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F0AA9B00-8EB6-F270-AC49-BB290104A588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B23228B1-83C5-CF70-1905-51CD6D11156F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DCA05ABD-55C2-1C01-F745-F9396C1438DF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DF40AEDD-49BF-D261-C904-7D21E83C7AD0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50423BB8-B023-2B69-DBE2-7E2FF21E4D7F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54780121-7711-D7FE-CD27-D21099D8C56D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79B9FF69-917B-21AE-E02C-3C026CAC723B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BC435002-723F-8CF9-0021-96B057D03B0F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4B06103F-1430-B621-BF51-CA970B2A7149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EB067ACC-CC70-4AC9-7557-5E7E178F9971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9440E51C-5350-A88A-A747-83D7E7483E16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B859A4B5-3C2A-E61A-EF99-6D3611912B71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46B2A32A-6845-4606-BEE0-8B41B1AE15CD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0F7B028D-497E-910B-924D-4608AAD8E136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3A5E493D-E0FD-428B-009A-49E34B20C031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56C2D45E-129E-4AD5-06EB-075FFC06951D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FEBC6D4A-CAEA-ED74-99CE-114133BC8D2C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7527E689-EF62-11A9-3A72-F153603ECB54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1449B8A7-7AB5-3A0D-D445-B8E9B3C7B69F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70607969-B8EC-D827-83ED-C3570BEEFEC8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AC94742B-5431-F88C-E427-3B8FF8C3655B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AEF81058-6AE7-33A7-6B4D-D547F4B15DD1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E5C36968-EAAF-38EF-3E9A-5CC77AD852AD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0F0E5A0E-5C3C-370F-1BFD-7DEC84B8E5A2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5C9EFF6E-03C8-0C5A-FFF8-988F86A37F8F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A61AF95C-7AF0-FEB3-DCBE-0F08D61E35CD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6BFB25D3-FA86-E22C-8043-D6B3260591B7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5CF19C1A-44B0-C8CC-E5AF-BCFA18A9B6BB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722C17B5-BBEE-6F4C-913A-5B6672EC3F98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806F9190-B246-FCBE-5971-BCDDF5516967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4C915A14-5316-2E46-42B0-C58B82CA9E80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EB2274B4-1C3E-D797-9572-5F046D15796C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7FE54DD2-2287-3052-9D04-B0C79924C27C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96359B2B-F899-4B8D-7638-A5C7D81D414B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A9047864-2C64-C6DB-FD84-BBF01E2E30FC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A2C7A6C9-EE85-9925-9087-18228F15EDA9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87E91EE1-5278-9590-B7B3-94995A40057E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AEADEA1B-93F0-3622-0899-6925D59B2080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F40D6036-A4B2-B9AA-7440-24B01171D860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8BF54368-1ECD-87F5-13C7-D40B688E3440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52094E44-E58D-7AC8-BCD4-FC1BB9D856D8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BAF35BA3-80E8-76E8-A591-573307F28F71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433083D9-E61A-A404-091F-5BCDA110E053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37E2B1A8-3A18-0EF2-E60F-FA22F849578F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E0BC5920-B868-F206-5FCE-F442CCC9CD6D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826E0C30-7D96-A420-7BE3-EB5304DBDBB2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19C789ED-3328-B1AE-3786-3439EA837201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BB0CD052-63C8-9881-F6CA-32C2AA4C4986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7706AC66-0A73-95AC-B6B1-A8BFDC86CA54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3EBD81E7-A87D-06B8-4B94-F2E2D3EC71BD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5046FC24-DD2C-BBA9-4A16-DBA7302775C1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74DE2B3A-3397-41B8-5886-C4AEB344DBA2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2CD68834-F8C6-4AEC-ECFC-FAE1D4060883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7DD3BFB2-D091-85F1-8F17-87CB27DAD872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B38E13F7-8B13-ECEE-0352-7962B1127ED6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19B8C171-4172-E0DD-7EA2-ED2E8E008623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3D6156F3-FE17-F527-A59E-88484CBE8F6B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51DAF208-269C-7517-F208-49CEB2654874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12FC08D2-9322-0C77-8A20-0E1A946B255C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38157E62-B50E-8F58-7BEB-F7F4E1AECDCD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57B43889-EF16-45FA-0B3D-1E974497D45A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F3BC38BA-FD1C-9992-8BB2-14BC6F4B6246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DB9DE473-E3BE-E83C-7885-BA80ECD7089B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2EA7D65F-0C25-4B0E-0632-63B304685F86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C791F193-027A-658C-6EC0-E641D250DBE5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24024F84-9C34-A4DF-A2B9-42D1246DDFA8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6E433573-F5D9-543F-5435-3C11C6B86D38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8429F4B4-D81E-5E9E-FD82-5A6B4D94C3E9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607FFDE6-F8EF-9833-FFB2-F7275CA06115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015032F0-9B3B-758C-B13F-24F61B484B85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93E3BC0E-1D2A-FD6F-6BFF-28FA43BF5296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7B3A1A2A-8A72-1A7F-5AA8-97357CAAFC10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8A046FAE-8E89-F895-B6A4-B94759AB58FE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1660DB8A-410D-259E-FACB-591C7AB9366D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93729F34-4B1C-522C-6803-A7145B82D6F6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23B0E2C1-B187-E373-46D7-4610A261A064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0CD97ECE-04BA-84C8-191C-3DAC87B4335D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7F829EBE-4416-2823-7C62-C82B622CD457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C1B37495-EB19-339A-0D74-97509BE991C5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AB378B12-174C-E801-968A-F32C7CE1152F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D98DDAF8-0960-FF8F-6D64-1959D62AD85E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AA2A8515-B41A-B77B-5200-572A5BA2267A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F2AE9081-1D6D-2DBA-A812-FE970577FF8C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F5279B13-5525-5B5C-353E-3ACF3C212752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5D10A732-D44F-FC34-2274-860D30290D48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D20B00CD-9DB9-3276-8FAE-D24D96CC0B49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1812C161-479B-F060-0B8A-AB13ADD22260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C43C3EF4-0D88-75AE-D680-DD2045F9F4E1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162A5CC4-1DDA-3766-FB89-44DFC20F13F7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86E92C41-9549-8538-AC02-46580596AE9A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5ECCAE14-C435-35C5-4C95-242A2AC5724D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F91CE94D-12B1-BCA8-8F67-ADD95C811C56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9040CCEF-7EB8-E70C-ACA4-03327F046C5C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2EEC8501-F08F-2F5E-D96F-B2819435909D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18D4ADA7-F810-4D8D-DEC7-AB6CD43ED344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FAB04DFA-B2FA-FD30-D95D-C65C9B51D1AF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6ECF58EE-39F6-1BE6-3A39-9A70F458251A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87EDCC23-D248-F862-1668-5EEA569728ED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1A3FC6EC-1F6E-FFB3-CEE3-53CB3DF13DED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DDFA2EE2-8CE7-1119-0C95-C97CAE43DA06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E51B960A-0DA3-1949-BCBE-AA97C77D2F09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F923E0DF-6629-2669-97BD-E80503A3F48F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75558548-AC7B-6EA2-4D4A-8E842AC15FEA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F1C83A6C-2B6C-4DD2-5758-CF451396F7F1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ED6B6686-59AD-3397-8342-1B2903EB6C66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9D78C7D4-781E-DAC4-DC11-B0460764C8EF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E9EF39EE-B59B-B7F1-C6CF-47DF4D97BF9E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373F149E-6AAD-36CE-265B-BB79E6FC1972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AD35BBC8-7DB8-8CFC-92EE-CEF2CA1AB62B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4E195752-7625-5B8A-18D8-4348C1684EE2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A45ED2BE-1CCD-59F8-7225-2BB0F4E830C9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A72E89FF-D7EC-97A4-DA7D-F73D854F98A3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BCE31848-66F7-A0C8-53B0-5C099933576B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A2EA3027-3C76-E557-C331-CA2B59F755E8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9026D263-06D2-03B0-6A5E-12F0F3861888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EE5BCA90-7474-4277-2FA1-184084750550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1277EA18-474F-66E8-25DE-35C38BEB6883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DFD80E9B-1618-D69A-95AF-BB29C0D2BD5D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B8A37799-21FB-917D-38D9-C96E1A729179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93F5FF0B-137C-B371-9C11-3AA8521C19ED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FD29A856-B163-4965-8B1C-3795F12AECF3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62FF1A5F-0EE6-FE04-0BDB-851C4ED2A115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7208C988-90E7-4061-D620-2626F1206521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7FAF76B9-986E-D4B6-CC60-BDD9A612565E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2FA7EE2B-5815-8BCE-B5F1-0AE96A961491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757A88C7-E126-054A-5DAF-11EF4BCD351A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D1289D7F-1213-3DB9-772D-A4F39B2C59DF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FF18457B-7672-F387-BD33-267667FD5A0D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C2EDD7EB-0A77-4B75-F96E-F210E10B020E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444FB128-0E1C-F53D-F3A9-1E783D222302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6CEE5795-A886-D867-0372-A426F618DB19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E747B7BF-3791-82D2-3D6B-27E98C56A73C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C0A92F38-41FF-2E71-2EE1-AC13B69611CA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275B24DA-D4D9-DA7A-36B4-D2DEC1DEF160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596498B6-328A-D18C-3BD9-7079524ED521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3903179A-2F05-2884-DC8B-07ED17A6F40E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552756CD-253C-5D3C-61BF-9946800B8589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BC5B1A14-65F5-2716-813B-0E8AFD43F98E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052A1C48-02D7-99A9-2EC7-D1B2C6C14ED0}"/>
              </a:ext>
            </a:extLst>
          </p:cNvPr>
          <p:cNvSpPr txBox="1"/>
          <p:nvPr/>
        </p:nvSpPr>
        <p:spPr>
          <a:xfrm>
            <a:off x="798871" y="203696"/>
            <a:ext cx="1715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系統需求分析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076A897-7A3E-082A-8A16-451068745298}"/>
              </a:ext>
            </a:extLst>
          </p:cNvPr>
          <p:cNvSpPr txBox="1"/>
          <p:nvPr/>
        </p:nvSpPr>
        <p:spPr>
          <a:xfrm>
            <a:off x="1061720" y="5601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非功能性需求（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Non-Functional Requirements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65B320A-B703-212D-B369-F062AE0C5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388454"/>
              </p:ext>
            </p:extLst>
          </p:nvPr>
        </p:nvGraphicFramePr>
        <p:xfrm>
          <a:off x="693174" y="1370577"/>
          <a:ext cx="7760110" cy="229616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3878826">
                  <a:extLst>
                    <a:ext uri="{9D8B030D-6E8A-4147-A177-3AD203B41FA5}">
                      <a16:colId xmlns:a16="http://schemas.microsoft.com/office/drawing/2014/main" val="1277829427"/>
                    </a:ext>
                  </a:extLst>
                </a:gridCol>
                <a:gridCol w="3881284">
                  <a:extLst>
                    <a:ext uri="{9D8B030D-6E8A-4147-A177-3AD203B41FA5}">
                      <a16:colId xmlns:a16="http://schemas.microsoft.com/office/drawing/2014/main" val="316400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類別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需求說明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148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系統穩定性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必須可在不同伺服器環境啟動、避免 </a:t>
                      </a:r>
                      <a:r>
                        <a:rPr lang="en-US" altLang="zh-TW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localhost 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讀取失敗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878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資料安全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Token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、錯誤碼、權限管理需分群處理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16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操作易用性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預約步驟加入導引提示、增加操作說明、表單加入驗證措施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11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明確導引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404</a:t>
                      </a: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TW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404</a:t>
                      </a: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、錯誤訊息需提供清晰導引與錯誤指向提示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256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14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41"/>
          <p:cNvSpPr txBox="1">
            <a:spLocks noGrp="1"/>
          </p:cNvSpPr>
          <p:nvPr>
            <p:ph type="subTitle" idx="1"/>
          </p:nvPr>
        </p:nvSpPr>
        <p:spPr>
          <a:xfrm>
            <a:off x="5005283" y="346051"/>
            <a:ext cx="3440399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zh-TW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平 台 方 功 能</a:t>
            </a:r>
            <a:endParaRPr lang="en-US" altLang="zh-TW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TW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TW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Manage the entire platform</a:t>
            </a:r>
            <a:r>
              <a:rPr lang="zh-TW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27" name="Google Shape;2227;p41"/>
          <p:cNvSpPr txBox="1">
            <a:spLocks noGrp="1"/>
          </p:cNvSpPr>
          <p:nvPr>
            <p:ph type="subTitle" idx="3"/>
          </p:nvPr>
        </p:nvSpPr>
        <p:spPr>
          <a:xfrm>
            <a:off x="1155660" y="905634"/>
            <a:ext cx="2562240" cy="745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一 般 使 用 者 功 能</a:t>
            </a:r>
            <a:endParaRPr lang="zh-TW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TW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TW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Regular User</a:t>
            </a:r>
            <a:r>
              <a:rPr lang="zh-TW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TW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28" name="Google Shape;2228;p41"/>
          <p:cNvSpPr txBox="1">
            <a:spLocks noGrp="1"/>
          </p:cNvSpPr>
          <p:nvPr>
            <p:ph type="subTitle" idx="4"/>
          </p:nvPr>
        </p:nvSpPr>
        <p:spPr>
          <a:xfrm>
            <a:off x="499732" y="1635920"/>
            <a:ext cx="3892268" cy="2555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註冊 </a:t>
            </a:r>
            <a:r>
              <a:rPr lang="en-US" altLang="zh-TW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登入帳號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查詢附近可用充電樁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預約充電時段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線上付款（</a:t>
            </a:r>
            <a:r>
              <a:rPr lang="en-US" altLang="zh-TW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 PAY</a:t>
            </a: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、信用卡等）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查看自己的充電紀錄、付款紀錄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瀏覽統計資料（如充電時數、總付款）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取消或修改預約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回饋設備使用狀況與評價</a:t>
            </a:r>
          </a:p>
        </p:txBody>
      </p:sp>
      <p:sp>
        <p:nvSpPr>
          <p:cNvPr id="2229" name="Google Shape;2229;p41"/>
          <p:cNvSpPr txBox="1">
            <a:spLocks noGrp="1"/>
          </p:cNvSpPr>
          <p:nvPr>
            <p:ph type="subTitle" idx="5"/>
          </p:nvPr>
        </p:nvSpPr>
        <p:spPr>
          <a:xfrm>
            <a:off x="4217880" y="4368282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zh-TW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經銷商功能</a:t>
            </a:r>
            <a:endParaRPr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30" name="Google Shape;2230;p41"/>
          <p:cNvSpPr txBox="1">
            <a:spLocks noGrp="1"/>
          </p:cNvSpPr>
          <p:nvPr>
            <p:ph type="subTitle" idx="6"/>
          </p:nvPr>
        </p:nvSpPr>
        <p:spPr>
          <a:xfrm>
            <a:off x="5440934" y="3490341"/>
            <a:ext cx="4989407" cy="1394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管理名下的充電樁設備、充電紀錄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查詢並匯出營收資料（僅自己名下）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查看統計資料（使用頻率、金額等）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接收維護或異常通知並進行處理</a:t>
            </a:r>
          </a:p>
        </p:txBody>
      </p:sp>
      <p:sp>
        <p:nvSpPr>
          <p:cNvPr id="2233" name="Google Shape;2233;p41"/>
          <p:cNvSpPr txBox="1"/>
          <p:nvPr/>
        </p:nvSpPr>
        <p:spPr>
          <a:xfrm>
            <a:off x="31291" y="834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Fjalla One"/>
                <a:sym typeface="Fjalla One"/>
              </a:rPr>
              <a:t>01</a:t>
            </a:r>
            <a:endParaRPr sz="72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Fjalla One"/>
              <a:sym typeface="Fjalla One"/>
            </a:endParaRPr>
          </a:p>
        </p:txBody>
      </p:sp>
      <p:sp>
        <p:nvSpPr>
          <p:cNvPr id="2234" name="Google Shape;2234;p41"/>
          <p:cNvSpPr txBox="1"/>
          <p:nvPr/>
        </p:nvSpPr>
        <p:spPr>
          <a:xfrm>
            <a:off x="4381579" y="3677291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Fjalla One"/>
                <a:sym typeface="Fjalla One"/>
              </a:rPr>
              <a:t>03</a:t>
            </a:r>
            <a:endParaRPr sz="72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Fjalla One"/>
              <a:sym typeface="Fjalla One"/>
            </a:endParaRPr>
          </a:p>
        </p:txBody>
      </p:sp>
      <p:sp>
        <p:nvSpPr>
          <p:cNvPr id="2236" name="Google Shape;2236;p41"/>
          <p:cNvSpPr txBox="1"/>
          <p:nvPr/>
        </p:nvSpPr>
        <p:spPr>
          <a:xfrm>
            <a:off x="4111957" y="24103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Fjalla One"/>
                <a:sym typeface="Fjalla One"/>
              </a:rPr>
              <a:t>02</a:t>
            </a:r>
            <a:endParaRPr sz="72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Fjalla One"/>
              <a:sym typeface="Fjalla On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107501-29D0-FFF3-8F33-5F7AA812815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190480" y="1198109"/>
            <a:ext cx="388458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管理經銷商、使用者帳號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查看所有充電樁狀態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查看經銷商營收報表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查詢全平台使用紀錄與統計資料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審核或異動經銷商</a:t>
            </a:r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充電樁配置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F871058-2645-611D-205C-FB560EAD2480}"/>
              </a:ext>
            </a:extLst>
          </p:cNvPr>
          <p:cNvSpPr txBox="1"/>
          <p:nvPr/>
        </p:nvSpPr>
        <p:spPr>
          <a:xfrm>
            <a:off x="1943123" y="177780"/>
            <a:ext cx="5388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系統架構與設計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2950180-5D08-61B7-6C8B-94D9B4BA8CFE}"/>
              </a:ext>
            </a:extLst>
          </p:cNvPr>
          <p:cNvSpPr txBox="1"/>
          <p:nvPr/>
        </p:nvSpPr>
        <p:spPr>
          <a:xfrm>
            <a:off x="2214908" y="541707"/>
            <a:ext cx="5388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系統架構總覽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4A508FB-8F0E-F1E9-7414-4270E421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759" y="361599"/>
            <a:ext cx="4809600" cy="576000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系統成果展示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EE4BF7-5FB9-883E-29E2-E1EDC6F7D8F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21908" y="1089019"/>
            <a:ext cx="590323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具備</a:t>
            </a:r>
            <a:r>
              <a:rPr kumimoji="0" lang="zh-TW" altLang="en-US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完整架構</a:t>
            </a: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兩</a:t>
            </a: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種角色登入介面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已實作用戶查詢、預約、紀錄查詢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後台可查看營收與簡易統計圖表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與 API 基礎串接完成，可獲得充電紀錄與設備資料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E21BD3D-6274-6478-D14B-DF8C01114C52}"/>
              </a:ext>
            </a:extLst>
          </p:cNvPr>
          <p:cNvSpPr txBox="1"/>
          <p:nvPr/>
        </p:nvSpPr>
        <p:spPr>
          <a:xfrm>
            <a:off x="1121909" y="324098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後端技術：</a:t>
            </a:r>
            <a:r>
              <a:rPr lang="en-US" altLang="zh-TW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Java Spring boot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前端框架：</a:t>
            </a:r>
            <a:r>
              <a:rPr lang="en-US" altLang="zh-TW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PHP Laravel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資料庫：</a:t>
            </a:r>
            <a:r>
              <a:rPr lang="en-US" altLang="zh-TW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MySQL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部署環境：</a:t>
            </a:r>
            <a:r>
              <a:rPr lang="en-US" altLang="zh-TW" sz="18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Ubuntu Docker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D2DB160-5D1B-A444-8922-CA5CE3D353F8}"/>
              </a:ext>
            </a:extLst>
          </p:cNvPr>
          <p:cNvSpPr txBox="1"/>
          <p:nvPr/>
        </p:nvSpPr>
        <p:spPr>
          <a:xfrm>
            <a:off x="1121908" y="257715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使用技術包括</a:t>
            </a:r>
          </a:p>
        </p:txBody>
      </p:sp>
    </p:spTree>
    <p:extLst>
      <p:ext uri="{BB962C8B-B14F-4D97-AF65-F5344CB8AC3E}">
        <p14:creationId xmlns:p14="http://schemas.microsoft.com/office/powerpoint/2010/main" val="80536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169F106-2B25-DA14-1EA9-963A761B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187000"/>
            <a:ext cx="6141555" cy="576000"/>
          </a:xfrm>
        </p:spPr>
        <p:txBody>
          <a:bodyPr/>
          <a:lstStyle/>
          <a:p>
            <a:r>
              <a:rPr lang="zh-TW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平台方後臺功能（統整管理中心）</a:t>
            </a:r>
            <a:endParaRPr lang="zh-TW" altLang="en-US" sz="2000" dirty="0">
              <a:solidFill>
                <a:schemeClr val="accent2">
                  <a:lumMod val="1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258EB8B-E9E0-5178-9DF8-B927B3112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60648"/>
              </p:ext>
            </p:extLst>
          </p:nvPr>
        </p:nvGraphicFramePr>
        <p:xfrm>
          <a:off x="1061884" y="762999"/>
          <a:ext cx="7074312" cy="362014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358104">
                  <a:extLst>
                    <a:ext uri="{9D8B030D-6E8A-4147-A177-3AD203B41FA5}">
                      <a16:colId xmlns:a16="http://schemas.microsoft.com/office/drawing/2014/main" val="757942905"/>
                    </a:ext>
                  </a:extLst>
                </a:gridCol>
                <a:gridCol w="2358104">
                  <a:extLst>
                    <a:ext uri="{9D8B030D-6E8A-4147-A177-3AD203B41FA5}">
                      <a16:colId xmlns:a16="http://schemas.microsoft.com/office/drawing/2014/main" val="3763852790"/>
                    </a:ext>
                  </a:extLst>
                </a:gridCol>
                <a:gridCol w="2358104">
                  <a:extLst>
                    <a:ext uri="{9D8B030D-6E8A-4147-A177-3AD203B41FA5}">
                      <a16:colId xmlns:a16="http://schemas.microsoft.com/office/drawing/2014/main" val="2538443938"/>
                    </a:ext>
                  </a:extLst>
                </a:gridCol>
              </a:tblGrid>
              <a:tr h="423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功能分類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主要能力說明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使用目的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972528"/>
                  </a:ext>
                </a:extLst>
              </a:tr>
              <a:tr h="730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充電樁管理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查看與管理全平台充電樁運作狀態</a:t>
                      </a:r>
                      <a:endParaRPr lang="en-US" altLang="zh-TW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調整費率與設備參數設定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確保設備穩定運作與即時調整配置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817598"/>
                  </a:ext>
                </a:extLst>
              </a:tr>
              <a:tr h="939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使用者帳號管理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查詢所有一般使用者與經銷商帳號資料</a:t>
                      </a:r>
                      <a:endParaRPr lang="en-US" altLang="zh-TW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查看全平台使用紀錄與充電統計資訊</a:t>
                      </a:r>
                      <a:endParaRPr lang="en-US" altLang="zh-TW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 </a:t>
                      </a: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設定與審核角色權限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控管資料存取與使用者操作範圍安全性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920377"/>
                  </a:ext>
                </a:extLst>
              </a:tr>
              <a:tr h="730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平台營收統整分析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匯出各經銷商營收報表</a:t>
                      </a:r>
                      <a:r>
                        <a:rPr lang="en-US" altLang="zh-TW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 </a:t>
                      </a: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查詢全平台總充電金額與使用狀況</a:t>
                      </a:r>
                      <a:endParaRPr lang="en-US" altLang="zh-TW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 </a:t>
                      </a: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生成多層級統計圖表分析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進行市場數據觀測與營運策略支援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5905"/>
                  </a:ext>
                </a:extLst>
              </a:tr>
              <a:tr h="730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充電站配置審核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審核與異動充電站與充電樁位置配置</a:t>
                      </a:r>
                      <a:endParaRPr lang="en-US" altLang="zh-TW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 </a:t>
                      </a: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管理平台設備與場域媒合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擴大平台市場推廣與設備場域媒合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121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554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18A3A2C-0C19-433F-64BD-14F7EA07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01" y="289588"/>
            <a:ext cx="4809600" cy="576000"/>
          </a:xfrm>
        </p:spPr>
        <p:txBody>
          <a:bodyPr/>
          <a:lstStyle/>
          <a:p>
            <a:r>
              <a:rPr lang="zh-TW" altLang="en-US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經銷商後臺功能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38FA9C7-205A-5239-0F09-67789AB509EE}"/>
              </a:ext>
            </a:extLst>
          </p:cNvPr>
          <p:cNvSpPr txBox="1"/>
          <p:nvPr/>
        </p:nvSpPr>
        <p:spPr>
          <a:xfrm>
            <a:off x="3064831" y="68033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充電樁管理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3A958E5-0A93-0671-AECC-ABC1DA3F66DA}"/>
              </a:ext>
            </a:extLst>
          </p:cNvPr>
          <p:cNvSpPr txBox="1"/>
          <p:nvPr/>
        </p:nvSpPr>
        <p:spPr>
          <a:xfrm>
            <a:off x="2343140" y="3812333"/>
            <a:ext cx="3562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435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台中市梧棲區台灣大道八段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201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號</a:t>
            </a:r>
          </a:p>
        </p:txBody>
      </p:sp>
      <p:pic>
        <p:nvPicPr>
          <p:cNvPr id="11" name="圖片 10" descr="一張含有 文字, 螢幕擷取畫面, 數字, 字型 的圖片">
            <a:extLst>
              <a:ext uri="{FF2B5EF4-FFF2-40B4-BE49-F238E27FC236}">
                <a16:creationId xmlns:a16="http://schemas.microsoft.com/office/drawing/2014/main" id="{B6CE9921-4508-310E-58B6-0074A76458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3" r="1907"/>
          <a:stretch>
            <a:fillRect/>
          </a:stretch>
        </p:blipFill>
        <p:spPr>
          <a:xfrm>
            <a:off x="914401" y="1472546"/>
            <a:ext cx="4300860" cy="2033177"/>
          </a:xfrm>
          <a:prstGeom prst="rect">
            <a:avLst/>
          </a:prstGeom>
        </p:spPr>
      </p:pic>
      <p:pic>
        <p:nvPicPr>
          <p:cNvPr id="13" name="圖片 12" descr="一張含有 文字, 圖表, 螢幕擷取畫面, 繪圖 的圖片">
            <a:extLst>
              <a:ext uri="{FF2B5EF4-FFF2-40B4-BE49-F238E27FC236}">
                <a16:creationId xmlns:a16="http://schemas.microsoft.com/office/drawing/2014/main" id="{DB0A2AFC-FF44-9CEA-FAA7-CC2ECA7D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325" y="1472546"/>
            <a:ext cx="2324100" cy="2023688"/>
          </a:xfrm>
          <a:prstGeom prst="rect">
            <a:avLst/>
          </a:prstGeom>
        </p:spPr>
      </p:pic>
      <p:sp>
        <p:nvSpPr>
          <p:cNvPr id="2" name="箭號: 左-上雙向 1">
            <a:extLst>
              <a:ext uri="{FF2B5EF4-FFF2-40B4-BE49-F238E27FC236}">
                <a16:creationId xmlns:a16="http://schemas.microsoft.com/office/drawing/2014/main" id="{2AE1B6C0-09A3-10E5-4FA4-4B2D67867B6E}"/>
              </a:ext>
            </a:extLst>
          </p:cNvPr>
          <p:cNvSpPr/>
          <p:nvPr/>
        </p:nvSpPr>
        <p:spPr>
          <a:xfrm>
            <a:off x="5973097" y="3598607"/>
            <a:ext cx="995920" cy="59976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左-上雙向 3">
            <a:extLst>
              <a:ext uri="{FF2B5EF4-FFF2-40B4-BE49-F238E27FC236}">
                <a16:creationId xmlns:a16="http://schemas.microsoft.com/office/drawing/2014/main" id="{0D5366F2-B9F7-BE7B-E094-C9751CE80063}"/>
              </a:ext>
            </a:extLst>
          </p:cNvPr>
          <p:cNvSpPr/>
          <p:nvPr/>
        </p:nvSpPr>
        <p:spPr>
          <a:xfrm rot="10800000">
            <a:off x="3440602" y="792531"/>
            <a:ext cx="995920" cy="59976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533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330C39C9-7A1E-F564-193E-E04151E44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201" y="736346"/>
            <a:ext cx="4809600" cy="1134000"/>
          </a:xfrm>
        </p:spPr>
        <p:txBody>
          <a:bodyPr/>
          <a:lstStyle/>
          <a:p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統計與報表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345DE31-1776-FCA4-D17E-B7FE9ECB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78" y="280924"/>
            <a:ext cx="4809600" cy="576000"/>
          </a:xfrm>
        </p:spPr>
        <p:txBody>
          <a:bodyPr/>
          <a:lstStyle/>
          <a:p>
            <a:r>
              <a:rPr lang="zh-TW" altLang="en-US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經銷商後臺功能</a:t>
            </a:r>
            <a:endParaRPr lang="zh-TW" altLang="en-US" dirty="0"/>
          </a:p>
        </p:txBody>
      </p:sp>
      <p:pic>
        <p:nvPicPr>
          <p:cNvPr id="5" name="圖片 4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3750A4B8-4698-41BB-8118-C2C184FB8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60" y="1096350"/>
            <a:ext cx="3388848" cy="2176805"/>
          </a:xfrm>
          <a:prstGeom prst="rect">
            <a:avLst/>
          </a:prstGeom>
        </p:spPr>
      </p:pic>
      <p:pic>
        <p:nvPicPr>
          <p:cNvPr id="7" name="圖片 6" descr="一張含有 文字, 繪圖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0BB9FFDF-F13D-EC8C-1A71-83B19CBB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292" y="2233000"/>
            <a:ext cx="3323708" cy="22732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2F5A1C7B-6BEC-1E07-1D84-5EBA43E9F6F6}"/>
                  </a:ext>
                </a:extLst>
              </p14:cNvPr>
              <p14:cNvContentPartPr/>
              <p14:nvPr/>
            </p14:nvContentPartPr>
            <p14:xfrm>
              <a:off x="4578030" y="1174780"/>
              <a:ext cx="720" cy="198144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2F5A1C7B-6BEC-1E07-1D84-5EBA43E9F6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6030" y="1138780"/>
                <a:ext cx="144000" cy="20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01CCDF3A-E973-387B-00AE-70C1FEF6E659}"/>
                  </a:ext>
                </a:extLst>
              </p14:cNvPr>
              <p14:cNvContentPartPr/>
              <p14:nvPr/>
            </p14:nvContentPartPr>
            <p14:xfrm>
              <a:off x="4571550" y="3161980"/>
              <a:ext cx="178200" cy="30672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01CCDF3A-E973-387B-00AE-70C1FEF6E6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5550" y="3126340"/>
                <a:ext cx="24984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CC13F93D-2B78-ADED-1F20-6A9B72CF9ED2}"/>
                  </a:ext>
                </a:extLst>
              </p14:cNvPr>
              <p14:cNvContentPartPr/>
              <p14:nvPr/>
            </p14:nvContentPartPr>
            <p14:xfrm>
              <a:off x="4340070" y="2103580"/>
              <a:ext cx="226440" cy="25884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CC13F93D-2B78-ADED-1F20-6A9B72CF9E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04430" y="2067940"/>
                <a:ext cx="2980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3CFE430D-3993-2929-D1A5-89AC0B3171EA}"/>
                  </a:ext>
                </a:extLst>
              </p14:cNvPr>
              <p14:cNvContentPartPr/>
              <p14:nvPr/>
            </p14:nvContentPartPr>
            <p14:xfrm>
              <a:off x="4565430" y="2375020"/>
              <a:ext cx="360" cy="36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3CFE430D-3993-2929-D1A5-89AC0B3171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29430" y="233902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2921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8938A2CB-4001-0B73-731F-52F27353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2B74DCF5-9A04-1CE9-AE6E-A5494E4CEE24}"/>
              </a:ext>
            </a:extLst>
          </p:cNvPr>
          <p:cNvGrpSpPr/>
          <p:nvPr/>
        </p:nvGrpSpPr>
        <p:grpSpPr>
          <a:xfrm>
            <a:off x="7683910" y="3765755"/>
            <a:ext cx="1460090" cy="1377745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2DBB20BF-15CC-75FE-C6FA-05FEBDCC3003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1441E98B-2B8D-92F0-B6C0-C4716C9A4832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8920A676-D231-7E94-C549-33A85FAC894F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37F552FD-A495-C730-FF9E-F5DEBAD7E9B0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93B7FF5E-5FAC-2DA0-9C97-CD95042AEAB7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A1757F8F-1259-6942-9C61-32BD2BB47E0C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153B00FE-AFF1-85CA-A902-8AE6BB464C8B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AF22883A-3AD3-5438-D4BB-6CAFC88283FA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AC9CDBF1-B527-A31B-8FA2-E96597D07B4A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7ACCE59F-68F6-076B-2065-D8E122DCF3D6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A4045521-CF92-3573-5423-EB2BABF7E724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396F193F-1910-7DF1-C789-3F51E00AFCAE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62B97968-B861-8D4F-7814-4F97AFDF17ED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2D67BF53-335E-8B32-9BB8-44987720FB57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1DE44C8D-09F5-9A2C-F4E0-02E814E6F488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419555F4-7698-7E8F-1CD1-42EAF512CA4D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1A5AE67A-4541-676D-169F-695DC6A78EEC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C400AB5E-94BD-950E-9426-8CEBA91B6846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3A895E88-C9BA-EAD8-AB7C-7C6BBFB51CB4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59C79061-0EF1-D905-F42E-E2ED82328EDE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7472E734-3C36-4944-3BAC-D6C54E709C4B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504656F0-E3D0-3BF4-AD06-CAA6539BBDDF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9E7A934A-A9E1-B546-3F13-13CDC412ECC3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9F168697-72D4-3DA3-48CC-36EEAE8030A7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9623E2D9-71BF-D6F5-E264-8474FE87D4B6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2458CDCF-8630-C7F0-1D9C-77205A4F7E96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4D4E9BBF-D3B2-E88B-4568-42A4F6C060F3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28999C25-156B-5806-4EAE-514C9955AE43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1215702A-9ABF-63CF-37F1-90CDAAC7FD9F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D05B2941-3B79-D2CB-F6D5-5FF28B4B6E9D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FD01392C-7444-8C0A-2888-E0F5226E3F65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E6E73E95-602A-7F2E-C088-AB92BD8E86E7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3DF401F6-57E9-689C-F0D0-CCBDDC7BB6E4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888402E0-F2B8-CE8C-9889-A88DD96AAE73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F3AEC5EB-804F-F4C6-C25E-879867C81DDF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3A2EB039-E729-B964-8AA2-FCF1C9646A9C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43A9756C-4606-6045-2FDA-059DECA8FA92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F8565C8B-34FB-9807-A414-89FA60CA8423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17D12FFE-D044-448A-E5E9-4D7E98C6530C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1EBEDCB6-1CFA-A7C4-AAA5-72E596F37FD0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7FD57A04-CA21-E748-CC77-B3F0C8CAABD8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4358C937-C110-222A-8EF8-AD4CEBB1F627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14BDCF57-D593-14F0-644F-864A4E2A1A7B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0D9EFEAD-FE8C-5C4F-4E09-A97A616F9971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3E76833F-9D01-9BB9-8145-DD7A6741D895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3EA3871B-7C47-36DD-ECCE-4C2E6549A21C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86DE2BFE-F46F-E64C-C7AC-514D18E38D9F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88BD9B2F-72A4-97B2-3342-EC1B9A61B0B2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F985A02B-C9AB-133C-D1A3-139B0980B0B8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35649391-3E65-2080-9A01-0859D5F36900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95D592C4-5DA3-659C-C36D-974998CBC5FD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18EE4845-AE04-7A54-FBAF-C1FF35858B58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D377A760-6521-F3AE-7F96-21C5F2DBA7DE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CD8F03D6-AE4E-A07C-363F-BB7903E9014C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DB1670FE-DA04-D54B-301C-89A868594985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F07E518A-A073-973C-B4CF-666C380DEC5B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1CD894E7-3E65-5DFB-400F-684D7FD27536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D3F518B4-20EA-45B9-DC42-E71332F2A888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F11F6B96-6F5F-7C7F-2051-EB0F5ACEC46C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0492BD47-8B41-9F33-891B-A9B005D1585C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41529DA2-D159-E80D-1FE0-6C4E1439E90F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F4E39E2A-9301-ACCE-DF6F-6628D9D9DCFD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AA8D8526-8CC9-1F8E-4FA1-E95D203F3DF3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8D05A6E1-F396-180E-9B4A-FE9A2A6DF2FF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7D79D157-5CB4-33F4-4F90-5474E7097198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D02E7BF0-827D-AFCD-E0CB-DA14D060F5C9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21265E4B-EFAF-4B19-2169-FE8748A0A206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E8EBDC05-29F9-0D9A-6009-FB1CCAC49F63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BD7CB116-C512-1037-985A-221A1A819C1A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8A2E5ED0-C2DD-3EA5-04C2-B51EDF53A2DD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E8A53CA5-CBCB-44C9-776C-B3E643E7FB97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A2C6DB9E-56C1-821F-4BE9-A1E21BB8A0F4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7143E238-CCB1-E636-F27D-2D275A722288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75C249BE-F9ED-5030-AB52-33C6064F8204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13611426-4BC9-392E-7A2D-76DE288F1230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EDE158AB-08B5-6B1F-0B12-5D5CE306BA6A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F54EEBAE-A11A-D0E3-5A2B-171C2E3B649D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2B2EA3AA-405A-B8E6-6086-2EA6B6A0A0CE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8F7E5B28-0A36-92CE-DA09-6548526049DF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B11AC954-5679-B565-C037-E9971ED31600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EED8B664-C03C-7814-BADD-ECF1AF3217F5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796EA8EA-4C4C-91CC-BBCD-CACE512C26D2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590F7DF7-74A3-B439-5CCD-02B0CA6F3863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BA22E6ED-C903-2F8A-FA0F-73C3B1C7D986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026E1082-1B89-F2D7-B42A-C8F5239DB096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591297CC-FE21-F835-0B14-A1302919D036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2503C09A-4B55-8E24-CFE9-55EEEE0097F5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CBC3F013-8CF3-0374-B1D4-655183E4FB45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0C6C434F-DCA4-9609-2B71-DABAC3083268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EC61275D-4468-4401-A791-9978B876EBEF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8403D7C7-1991-4AFD-02A6-28B33838DF3D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65BDB061-2E42-4238-637B-8E5F49A0DA3C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EBF5203A-7271-3E49-1B93-0E0D5BDD773C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857F212F-FECD-3D91-B766-86AD16EB8619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D8BC8E62-BAAE-2C5C-57A8-60632A3A4697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DC90A4EF-0FF2-9605-7315-6A3E57CBC484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4B04932B-9656-33C8-9133-9371C01AFB6C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A80026E3-B958-207B-6CBD-CC399416CA80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B5E8DE41-7B80-C8F5-2E0C-2CCCC51A68F3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61AC0890-141A-CCD0-A4BA-7E012AADB302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E56EF0D1-18DB-69E7-55DF-B13894C819B3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64392CEE-84AD-C34A-7EB1-F77895AB7048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47E33C5C-B163-A3E2-39C8-56EB9734020D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80C35973-24E4-5C2F-E78D-579B1DBD2EB9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1E4362CE-F069-2696-2A64-B47E111B1EFE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97588BBA-0268-AB2B-F3C5-C30C66D4941A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E4E735AA-34AD-3041-B6A3-9A2BD48B820E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D3975C57-E874-8245-CE46-8A1AC00546E9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C8318115-B5B6-AB9C-098F-254E75F1E2DE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20B6D2E5-43DD-67AF-1322-B9F624513EC9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9E035DEE-F1CC-AC0B-A7E2-9E5492464D0F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BFAA19A4-5D5E-73C2-5E78-523EDD1CA18A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B496FD2C-7519-0361-CBD6-2267E0B3E0C1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99E073AD-EAAF-642A-28A3-214D78A4B7A2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CAABDE7C-2AE2-348A-8C79-497D95178CAE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506065EE-4389-F99F-CD21-D0A72810077A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6954E8E6-A124-D0A2-7989-AAB48EEC679B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4B48610D-1B48-3D7F-3126-B6D1F7E7C8CB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375A97FF-ADC2-D0B6-C343-6FA748B352CB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E5AF031C-B7D4-052C-0B80-F1408C64F3EC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F1A64156-A07C-C756-3D30-874EBB07AF3C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CF7AC39A-0A1C-A943-AEFE-05B3629459E4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894E43AA-869A-6562-4CE9-77D3C74DA134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BEB87A51-0A44-2D82-4A01-C5AF15521813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97F3C6C0-C921-F19F-9CC3-AE2A6F185AEA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155CDFC6-39D7-0186-ACCD-B5443907A464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548EF4CF-979F-B23C-6234-B44599666F43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17734CF7-D86A-7249-BC97-6CFC7425BD05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44F19B36-A9FE-F44D-6902-97B7BD30BE7F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18DA49C9-33EA-9DA4-C2DF-8665F56A2A43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451236D3-D41B-9357-7DFC-3BE65A39A453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E5FFB02D-57D6-E761-B658-1F3991A75D7E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867D745B-AEA6-DCF4-85A3-730806D38EFE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C5A89543-7591-12EA-D378-7FFD42AB221C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66725DE8-B09D-1E61-593C-AABC1350AD40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73445BB1-CBBA-BE0F-E70D-4E3EDA89098B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105DAFCD-CF75-B708-5A84-42B134FD1C92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F6A2F055-7A68-727E-4AE0-F8E542D89E9B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FF72E367-8704-BE5C-8F8B-6A16147EC27F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16474961-89E3-2983-DFF3-18274454773E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2E528CCE-923E-E7A3-7A6C-131C740FAB06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E6D17F81-E6D7-790F-8352-D5D92E26106F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A419602A-0830-475D-234E-BEB4B4B10FC9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2F8F4F6E-E4C2-95E5-3F2C-3C741DDC9E94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A692771E-AA23-588B-A39C-F809EA09C473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A9AA19FA-9730-ADFA-B7F1-AD8E3DEEFB54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4D57F754-CB63-474E-B002-32F214A88C9F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0A59B236-FA86-24CD-F90E-BCF664B45C26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0D7CDA03-3F84-414E-92DA-EEEE48A0677D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ADC94093-22C2-58D8-A025-02FB846139BB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01E3D263-1379-F677-F4E3-7842D505CD2C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A020063A-BDD8-79C7-7795-2D9E1A4B5443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B706C46B-7967-B3B5-51FB-0150128D50FB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F21F72A1-D657-043B-569F-416618FF82CD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AF18B3BE-F017-60DF-1167-5AAEAFCBC8B5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E7975ADA-3943-31C3-CE7A-CAACB665CA1A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2D16993B-4D08-B454-1FAB-36C028D36A9F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E4D24B6A-6904-81D8-E9F9-4D615D7D4324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103EC604-795C-AABA-6B09-397CFB2056E7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13BE107F-78E2-9D27-7D80-D873B4E829F1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017F4C4B-B493-7808-BFFE-481E8131F15D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72EE628F-D85B-6F3C-652F-2FBFD56006D9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3A1669E0-7D24-EC57-C9E6-FDBB75556B66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2B31C4D4-1E7E-8460-F636-C6D9845C6FD0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7BC23C22-87D0-CE31-754C-93EAA1540FD5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0226A71A-8915-6AF3-CA51-3DFEF4847720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C7C76FCB-FAE1-608B-A447-AED64D4DA4E0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B2503632-E6C3-314A-38AE-9742680FD6F3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C710F59A-63BC-D08B-978B-6BF03531A8BE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DBEB914C-406D-FB72-7685-C415BFFD0B70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56917F87-7AAC-2385-6C1E-7FF9E153BB4E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10C3BD23-E4E9-4102-11F2-B3DDD44B445D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7D038AE2-CE6A-F62E-40AE-65113365A49E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713CFC76-89EC-A73D-01C9-AF8818B6A03A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D8A2E06F-A483-F78D-6E84-864BC9F52722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7E5BD1E1-0DCA-1910-02BE-B754BBD8C1B0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B93389F9-38BF-20BF-3CC7-B753091634EC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3B25A80A-E2D0-07E9-EB6B-23AB3DE94DB7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0FB6E031-ABF3-736A-7069-8DB50A90B4A9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FA184EEF-A026-842B-871C-005951D51E34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1CD6A331-B06C-DB43-940D-1A5C42D469F7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6784F7AF-9CF4-86D0-4D97-ECEA5F25B0FE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1AB5910F-68EC-03E5-2501-FF88E9545EBA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59F05035-7AB6-1F8B-2403-53300B471344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4B8EDD8D-A769-B456-0142-66C5FB77E76D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7BDE8985-7414-035C-055F-BD9C353972C6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7CCC33FE-7DD7-6189-D2C8-733A006520ED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7D3213BB-9B46-F579-06F9-A5AB7E0AC901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75BFD008-8891-A7D2-4DED-4ECB89DB2910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3DDCB9AF-3079-5828-3A9D-3CE25F936300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22B8E4B7-684A-511A-5232-F1C85B7AC413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63EB27EA-6719-5DC0-A847-5B3B8D022371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2C5FD5E1-68DE-CCEC-1680-50F8E0589ECD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F1BCEA31-5C4B-77BD-AC2D-1E5EF71909A3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748B7E3F-2D4C-4C43-E772-E62A969838AC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7D5FAE3C-900F-FB3C-FD9C-4F194B165779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3626B414-E700-9FC6-37FE-2817A6F2ACE0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6D1194E4-79D1-8E91-D812-DEDEF67AFDCA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F7C08082-83A2-5FEB-BFBA-5EAC968D2EA5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B5D9A7D9-6CCA-E512-2853-6DB1ABD17429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3A45C080-F6D7-00D6-37A9-0AB12C2B2DEA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C6FA7F0D-9BDD-3D47-554D-CB586334EFC8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F9D3FD0C-CB76-22DA-1AC9-CCFFECC99167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4AE059F2-7A11-997D-DA52-ECC3C4519622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F5A93AA4-4163-689E-387A-5ADCF3059ABB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CF2E574C-B842-F071-CB51-0BFC4BEDD276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FCF404B0-6BD3-46D2-14CD-A36B9F687633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E796E686-AB44-E347-9EE4-2633655235FC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83190C5F-16D0-C0DF-6575-E514F938D7FE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CD237B05-59EA-F42C-4138-80B24A462460}"/>
              </a:ext>
            </a:extLst>
          </p:cNvPr>
          <p:cNvSpPr txBox="1"/>
          <p:nvPr/>
        </p:nvSpPr>
        <p:spPr>
          <a:xfrm>
            <a:off x="685800" y="134870"/>
            <a:ext cx="2136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系統架構與設計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27648BE-DB31-F843-346F-FD9FBDD7C11F}"/>
              </a:ext>
            </a:extLst>
          </p:cNvPr>
          <p:cNvSpPr txBox="1"/>
          <p:nvPr/>
        </p:nvSpPr>
        <p:spPr>
          <a:xfrm>
            <a:off x="1061720" y="4426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驗證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A1EF440-B995-0891-DF64-27877E470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122696"/>
              </p:ext>
            </p:extLst>
          </p:nvPr>
        </p:nvGraphicFramePr>
        <p:xfrm>
          <a:off x="830826" y="1036793"/>
          <a:ext cx="7482348" cy="333756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412180">
                  <a:extLst>
                    <a:ext uri="{9D8B030D-6E8A-4147-A177-3AD203B41FA5}">
                      <a16:colId xmlns:a16="http://schemas.microsoft.com/office/drawing/2014/main" val="286889695"/>
                    </a:ext>
                  </a:extLst>
                </a:gridCol>
                <a:gridCol w="2535084">
                  <a:extLst>
                    <a:ext uri="{9D8B030D-6E8A-4147-A177-3AD203B41FA5}">
                      <a16:colId xmlns:a16="http://schemas.microsoft.com/office/drawing/2014/main" val="2792096385"/>
                    </a:ext>
                  </a:extLst>
                </a:gridCol>
                <a:gridCol w="2535084">
                  <a:extLst>
                    <a:ext uri="{9D8B030D-6E8A-4147-A177-3AD203B41FA5}">
                      <a16:colId xmlns:a16="http://schemas.microsoft.com/office/drawing/2014/main" val="2820849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Endpoint（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路徑）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43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註冊會員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159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/auth/register/dealer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註冊經銷商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5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/auth/logout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登出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297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會員登入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80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/auth/force_update_pwd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強制更新密碼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62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</a:t>
                      </a:r>
                      <a:r>
                        <a:rPr lang="en-US" dirty="0" err="1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check_mail_code</a:t>
                      </a:r>
                      <a:endParaRPr lang="en-US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確認驗證碼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372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/auth/send_mail_code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取得驗證碼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84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/auth/available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確認帳號是否可用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578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482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44B6C942-5073-13C7-6405-E86BD77CE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DF8DC36E-9022-B3E6-F92D-A65C31CC0CB7}"/>
              </a:ext>
            </a:extLst>
          </p:cNvPr>
          <p:cNvGrpSpPr/>
          <p:nvPr/>
        </p:nvGrpSpPr>
        <p:grpSpPr>
          <a:xfrm>
            <a:off x="7683910" y="3765755"/>
            <a:ext cx="1460090" cy="1377745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49DBFA4C-0AC7-1864-FB7F-A0C3AEAC9510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239C442D-D470-1830-8078-24DAB9F9FE15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0E5A8158-AC1B-E1A6-10FA-6FEB70132F14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79EE0E57-EEFC-D560-C544-7D524C8CEA94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CC21C771-1302-FEF3-BA2F-3CF217FB0EB2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F7AFCD16-A70A-4B74-E325-69C0AB63386C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3E45EF66-3EB2-D843-E95D-5A5A1844097C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B9C69938-B088-91D3-D2EF-A7F1560A27E9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2C8AD091-C60D-2A1D-8A3D-D679E6123429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8137C92C-AEA6-01D0-C548-30A6E90D829B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BA0B32A5-AA0E-8978-8C09-91CD5492DBA1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D88031BF-C51B-2D1F-AACA-E6BC872E64C5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3A32F8EA-B1CF-E9D1-A620-769D1A15DC6C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4A5D5E59-660D-631E-AC59-512BABE5AE30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EA3F68A3-2C9C-06FA-E5AC-898D8EDD3B66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F7170347-C0F7-E158-B6C7-6AFE381DDAC3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CB3EAF6B-E8CB-BA38-C562-81FA3DDA6E02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4409615F-107B-5AF7-2966-4A14CE9DB9CB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51CC7329-8EF5-99B5-912C-0E5FF90E959A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C3B7DE8C-FD84-284A-BAC8-1385D495D36F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A120991E-683D-BDA5-24F0-816F4CCFC516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6A36DFAF-35B0-882A-FEBA-AEA9202456DB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93AEA9B1-E0A8-63D3-CF16-3696F43BD0B3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5A60CCF0-9BE1-80C9-6DF4-69E342ED9955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95077687-BA1E-7658-C863-DD056157A6A6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69950C1B-1A03-420B-E518-B8C4288320AC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98DCC890-1196-1D76-EF5C-BBA6D2B25A20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44E3C434-49A2-FE54-DEEB-505AF732A6DB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80F8279B-7ED0-AC66-9FCC-9318C0602E8A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535BB206-B8DA-FD5F-24B9-825359A12275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C0C9DAFE-B343-4F2E-F5C4-CBD4268C8C7A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DB76D5AD-2841-92A8-4DD0-2D52CFD45929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C0221A8D-43E3-FA55-2B16-5B19B6C9D873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6315C974-A661-7D84-71C6-23C586607186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71641E7C-D846-89DC-9430-A2E65C4D8C57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B137011F-D2AD-8B43-7984-F3FCA8C3591D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1D067409-4E53-AB73-B6E1-EBCDCF4E378D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D0E3AF45-B936-8E4E-7FD0-3BCD5F9958FE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89A0B025-08EC-6287-AF68-7332A81385EA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B50CC831-142F-D0F1-D749-ECE8D824D830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883BF288-4759-0CA0-3CBD-020C5CB6D135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EA54D8F2-5EBF-A6FD-B750-F2286AC06EB4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E317BE2A-11EB-6CB2-EE36-2C5865C4A10E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E8207B06-1048-8F8C-B43F-E14DE6ABD30C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8A6E49E9-B806-925B-8078-94DF6A068886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D4F104F8-416E-FCD7-63CC-0B064BCAE4AD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C8D4679D-E17D-DA63-7F7F-2F8F47581F35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079F3DD6-F3E3-4FCA-4C27-12C905E0BDD9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5CC304C8-0E53-4DD0-9AF7-2661ED558938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551C048A-2194-FC6C-A889-9BB3A776EAE8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BB668AA6-9B31-125B-A249-5B11E595A456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CE8BD727-A308-633C-4546-42DD1546F2B5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867AB530-A1F1-F9A5-40AA-3179D0B5E07E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33E70087-97C6-8788-5AE0-D26452D4881A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57EDAFB6-37AF-C660-A2EA-5098402EB592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B06F4BF6-228D-A248-E919-FF031CF79768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57D95E59-6009-F5DE-D2AC-CCF9B2E83559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65194E80-DD2E-4FE8-6F8D-8A225B125F8D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BF50EE48-6D05-7F92-8691-77EFA93E9DBE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B13AC7E6-0CB4-C5D9-C6E8-AF10AA69BC71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30F2E9F7-53AE-89AA-73BB-D2A673A97A88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78E949B0-0B37-6D21-A4B0-2BB2D1809CE3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2E339E26-DA4E-CBDB-B838-CB5DAAF97FE7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D562AA47-953A-623D-294A-35B969AE2F56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CF3870B1-688B-5874-10BA-8DE4253C091A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DD456937-0843-CAEE-D807-08AC9C1111E2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A7917643-D5CE-9EC1-DD5C-9A56A36EF341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AA8847A4-51A6-CA90-3A79-1B0D0DD171AD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2189325F-B5A5-D9D9-E5A5-C1A0FB987E53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AC61B84B-01BC-0E53-9DA8-BEF06EA0F868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9676F6D7-42F1-22E0-C0A9-54DDDF223BBE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0F2A00EE-CE2A-0FA2-AB64-566D10726A59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4526402F-BB4F-E9B1-C461-6013B451896E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A3E41766-5AE9-F054-C67F-2574E45752CB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1A51166C-195C-CD36-FEBE-FFAF18B0C057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74A5C2F9-5D0F-3C7F-EE96-14246D0DD4EE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DC6E96FE-E269-FB06-55A2-2FD009008010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23784386-AB76-5542-4D0C-C0568149DBB6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57816880-7A6C-3604-3F52-4F66D0339028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E670CCDE-2350-D683-19DD-636543C4711F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38764813-D39A-4C88-A1EE-C41E3BB0A337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E01FE3F2-8221-4158-E7F5-C854598C66BA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C5478330-0E94-FCAD-BE6E-876B3C8EB0A0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731737A9-6044-E82D-CC08-2F4F0A6B8BA7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A81A315B-27ED-3398-CE9C-E829E4CF319E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BC48745B-1F90-5FB1-2288-0D47CB7A34A3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445C8F1B-6CA2-6ADE-E41D-C1C9354EF768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D617E22A-7683-1914-61EB-F1D56ADE6E93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F8E47225-89B6-0710-1CD9-3C84ADF9785C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64F5D15B-F899-F0ED-F8B6-648463EF0F3B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AFBB62EA-F41A-BBEA-941E-C48D50FC779C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64D02B34-6183-87D5-25C7-CC3E44A155CF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604E1713-A6F9-34F4-35D2-0271BB34CABA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1C16D8FA-56F7-F1A3-785A-4604001A3966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AF163DD3-2ADE-3E81-1877-8D223DF5FEB3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14F45C50-183E-092C-D9AD-33DBC0D42141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63A4D23E-A455-B3EB-8F28-33B9D66934DA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8816F330-B90D-3F2E-AA4E-DAE4EA8FAB54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53F06E36-39F8-B6F4-B6E7-63F1FB4E053D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744D5035-BE8C-B622-50CC-56604845D0F2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19ABC09F-2061-D3F5-3E41-BCCD56F16B13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A3D2EE58-D512-4858-0586-D041F915DBBC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64D6C44A-62FF-A6FA-565C-51E4FA2CB885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AABB9A8D-F41C-93AB-FE67-EA67810916AD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2A0508D3-D761-74A9-E10B-32CA06C0D621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99155C5E-5433-ED92-9891-B762A6CEFFAF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10F136CB-2FAA-92B9-4068-805783F83E58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0C77F2EE-4BB6-A642-1987-B57B940318B3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173603BF-2D92-5D61-C4A2-2320A880B2B0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39CE7592-D2BC-5A67-2BFC-EE126F3A0E5D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7F0C3FB6-B648-D762-ED28-BF5BBEBD4912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D806AA47-74BA-C7E2-1F4E-474343C11E32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C392229D-CE33-EAAF-4059-0DD986881CD2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819644BE-E292-83CD-1680-2502DAC96683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C455F037-F324-0B8E-73C2-5E06CA538571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0F75DBB2-AD45-AD84-DD7A-118008109A07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F12998D7-AE16-397B-E157-D851152D397C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1DA54611-FE99-9156-5A02-5A8B3BEC458F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30089FDC-0768-3461-3A46-16F16FFF08AB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8D8A74B9-7F82-A9B4-29E8-FEBA49EA5E2D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D426778D-0A6D-DE29-4F3D-0DEA986F4B3B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3A156298-B6ED-9C50-8D4A-E22DDC6ED114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2D222BA0-BE33-AA4B-5EB5-F40B2B5C29AA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D0D8FDD9-352E-3EBB-319D-EC6741345B10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C6EA9CEA-F0C4-8850-FD93-8E82BF66B4FD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5F076B5F-249A-685E-CE18-B27C8AC8717C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52F29908-B121-BD04-5054-4C5B17D8019C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BC77E799-0972-8585-61B7-DDD1E48E7E23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F9155DE8-5132-4878-05D6-9AC520F0F9CD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930CA229-0DC4-AE84-64EE-05575860EC4A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F48606C1-00A1-39F0-112F-9ABFF4B8E71F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32381B36-CAE9-F361-0EB5-CE635D68EABA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0E4AB14F-4C71-3674-FD48-1A788865BB29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FE290F5F-8159-4836-D7F3-DF6A420B01A5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D990BD55-D461-E132-0426-CEC8B71B9389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34F89BBD-A00D-EB6D-C5D4-EDEA42734027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3E96CF0B-BE31-E69A-BC1B-B689FBF510EF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F9FE7328-6C74-7484-5D25-FFC4553F6421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ABB17891-1F06-80E1-7F63-7E3B0F27F946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77FBE839-C483-2A9C-6A6F-E6FA8E8A51D7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54F4BEAF-3829-CF4E-A597-BD68A7AF0BC9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2DBF4AFC-F60C-D318-E2D6-59B8655B6572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0F89CE82-04BC-2D42-2405-296746FD283D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E44E1B50-5633-94C9-9463-B1DE2A11F428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46E88165-389F-6CA4-BFEA-7C6D931A9C57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7E84BC32-09BC-31CC-B502-862C1E44F16D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C9D6F3B9-4FE7-EA8A-F9B3-DA5A92FA5B27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CC7C1B4D-5C3F-DA2E-3678-3B6436103DB7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DA6A50ED-9832-31E8-F8C9-983A96A85260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79A012DD-D02D-283B-3B1D-804A876CF26B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5D5B0F4D-2B71-90E1-BB32-BC908E3AB0A3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05DE5BFC-B3CD-D569-281D-81103F3ED92E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ABAD700C-72A0-64C3-B14B-700D561D4E44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7AC576D1-F0DA-22F2-5D31-83650C2F5B21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D96513E6-7B13-FC41-A2E9-E7F99A51A488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BBD3C319-CF0B-26F5-C702-275F9BD63266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3FDF8CF1-CB9D-1971-5E97-110E372FF650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8021EE43-E91F-B309-A681-4CE410927203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C35B60D0-16D4-3B15-8ADC-A6F6CBF3FCB1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41B8D22E-C4B2-FEDA-8F9A-00ADA19786A6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742B9A80-5049-C07A-47C4-B92F2E100C0F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B6B1C8E6-27C3-1BED-ED4A-FDE3F2647B37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51C011B2-721D-DB5A-1520-ACE35FDA4330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7D2E072B-789D-C894-733F-FB8CC09C33CF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7943F493-F744-3B3B-1F27-4875177153F1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B6EC08C2-4E1B-E1D7-03B6-EEB3BF23D62C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972BDC4E-93F2-0AFF-A3ED-9309D6705BCB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4B854F1F-9004-C763-B045-F20E3B06FF17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0681814C-5E42-E16A-E3F9-5CD345EA7152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300EF9F5-959A-20DD-99B5-3E1574CB37E1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9FE63392-2811-9573-D506-F747764E8024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E7F7120C-7E91-0275-41ED-E617B8792F06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5A70AC86-3AE9-6EF6-A47A-FB7ED083FCFB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BF4D64BF-F6C2-B867-4D26-B7482BE19C96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7719CEF7-3514-3BF0-5381-63C2281995EF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5A33333B-8EC0-0B45-1B68-6BD4EFF50983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DF1F8242-074B-71EE-9B1D-C3E9DFBBD87F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6349CECC-C93C-F144-4DD7-1BC9EE3F7E38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7005B267-0910-B2F1-530B-883D30CB7236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69495494-C2BB-58EE-7A21-BFCCED32C6D6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9EF96560-E36F-1808-BD96-94D236558339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42BEDFDB-0B64-DCE6-95EE-2CCB362B2C86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C2CD05AD-1434-04D6-8609-A5F092AE26D2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162536B1-0800-00D5-CF22-B0292A388612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50947F4C-3891-C2B6-6090-237A81B77413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2FCE3632-6F3B-0B4E-30EA-72611B1BB6A6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CD12CEA0-7E96-BE53-B933-86A8A4F89990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3CEE0257-54F6-A9EA-4BFC-AE261102ADEB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DB0C4F4E-4D82-ED28-5365-642331974757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0AE81C96-461E-C389-92B5-59B5A05A155E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894DE1B4-7050-F517-24CE-5DC16E735883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53BA0037-2672-BACD-07E6-45AD30383CB9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C07F8D00-B6CF-948A-DFC5-4310F95371D6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F20AF53B-4E33-C817-EA27-20F5244A3E53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AA52355F-3038-B5BD-7B25-915AE334FA11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57E22D62-5154-5C40-1487-6595F52B2345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2EC6C9B3-5AD3-12D9-6F66-7C5035A365E2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4A7086B8-B08D-76D3-68BD-04A07631E2F9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7F47B409-F7DC-9F61-3818-27910BEA85B8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FD39E3DD-E8D5-739C-09A4-6A301EB57688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28ADD253-DA5D-49E9-D642-924209696591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F0275533-D1CA-FDF7-949B-4320CB0B4C91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9D5C81AB-8815-C477-9D13-6E409B651FC8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466209AD-F25F-ED02-C27F-EFAB0870C818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B5DCCFDA-70A7-0C43-817F-FCC472A8D83E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9221E93D-5790-61E5-0C02-2C08DAA3D6F1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7DCB2FFA-80B0-5387-44E8-1A4406D3B4BB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3529369B-068B-352F-CB7A-72A6FE16A39E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CA80E2D1-0D7F-D7AA-F14C-A5D99C7C19C5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39DA0C0F-67B9-366A-D6EA-EFE0A1F08E96}"/>
              </a:ext>
            </a:extLst>
          </p:cNvPr>
          <p:cNvSpPr txBox="1"/>
          <p:nvPr/>
        </p:nvSpPr>
        <p:spPr>
          <a:xfrm>
            <a:off x="685800" y="134870"/>
            <a:ext cx="2136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系統架構與設計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AA69A11-DF4D-8A7B-DE50-62FF9E688A60}"/>
              </a:ext>
            </a:extLst>
          </p:cNvPr>
          <p:cNvSpPr txBox="1"/>
          <p:nvPr/>
        </p:nvSpPr>
        <p:spPr>
          <a:xfrm>
            <a:off x="1061720" y="4426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會員訂單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6523F7B-AFAC-EB7D-5E43-F6D3495FE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86643"/>
              </p:ext>
            </p:extLst>
          </p:nvPr>
        </p:nvGraphicFramePr>
        <p:xfrm>
          <a:off x="635409" y="733932"/>
          <a:ext cx="7873182" cy="4247349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624394">
                  <a:extLst>
                    <a:ext uri="{9D8B030D-6E8A-4147-A177-3AD203B41FA5}">
                      <a16:colId xmlns:a16="http://schemas.microsoft.com/office/drawing/2014/main" val="2287826783"/>
                    </a:ext>
                  </a:extLst>
                </a:gridCol>
                <a:gridCol w="2624394">
                  <a:extLst>
                    <a:ext uri="{9D8B030D-6E8A-4147-A177-3AD203B41FA5}">
                      <a16:colId xmlns:a16="http://schemas.microsoft.com/office/drawing/2014/main" val="2778825302"/>
                    </a:ext>
                  </a:extLst>
                </a:gridCol>
                <a:gridCol w="2624394">
                  <a:extLst>
                    <a:ext uri="{9D8B030D-6E8A-4147-A177-3AD203B41FA5}">
                      <a16:colId xmlns:a16="http://schemas.microsoft.com/office/drawing/2014/main" val="3621561901"/>
                    </a:ext>
                  </a:extLst>
                </a:gridCol>
              </a:tblGrid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Endpoint（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路徑）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1674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開始充電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114795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/user/purchase/reserve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預約充電樁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483324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/user/purchase/pay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訂單付款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016081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結束充電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9492"/>
                  </a:ext>
                </a:extLst>
              </a:tr>
              <a:tr h="484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</a:t>
                      </a:r>
                      <a:r>
                        <a:rPr lang="en-US" dirty="0" err="1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unpaid_bill</a:t>
                      </a:r>
                      <a:endParaRPr lang="en-US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查詢尚未付款訂單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418212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查看我的預約（最新</a:t>
                      </a:r>
                      <a:r>
                        <a:rPr lang="en-US" altLang="zh-TW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常用）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753672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/user/purchase/tariff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取得當前計費規則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273533"/>
                  </a:ext>
                </a:extLst>
              </a:tr>
              <a:tr h="484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/user/purchase/status_ing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充電狀態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920151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預約列表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93879"/>
                  </a:ext>
                </a:extLst>
              </a:tr>
              <a:tr h="484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/user/purchase/bill_info/{charging_bill_id}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訂單詳情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246160"/>
                  </a:ext>
                </a:extLst>
              </a:tr>
              <a:tr h="306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/user/purchase/cancel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取消預約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673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24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DA4EA5DD-3628-B0F3-BBF8-1172C29C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78C37B86-F76A-EEBA-620C-75463B728204}"/>
              </a:ext>
            </a:extLst>
          </p:cNvPr>
          <p:cNvGrpSpPr/>
          <p:nvPr/>
        </p:nvGrpSpPr>
        <p:grpSpPr>
          <a:xfrm>
            <a:off x="7683910" y="3765755"/>
            <a:ext cx="1460090" cy="1377745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8C10EAA3-7B12-D1EB-6819-8FA455DCBABA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AB72557A-AD73-F4BD-F941-1DB188ED93A2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F4784511-20E0-EA6A-5136-CF5806DF37E7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86D1D423-0CFD-883D-9974-C5C3CD6D36B9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2B00F4F8-FB9F-86D6-ECC7-2A7A53271C75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D96910F3-F296-A97D-ABA4-C0923B5AC12C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434EAAF0-3237-2863-CF44-DDEC52831C73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9DB940DF-8F13-55E1-9E13-32DAC75B129C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943D57EB-35D4-2370-40AA-CF3C91CB1A98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3E406B9F-4F8A-CE34-70FE-4FFE2C7470F7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6EAFF70F-843B-B029-0F02-05A77D04BF4A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93AA2018-A21B-D53D-0CBE-51355692ABC6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7D132801-D572-138D-F474-26703564DD27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BF62EE8F-ECAA-0E4C-43A4-C0CCD4C88325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CEF617E4-7905-D5CF-0F95-1B62C74F9F04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8D6305DF-EBAC-81BA-7703-FDFC69CC5D6F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8058BF2B-5E39-F45A-B60F-35F699AF7ACA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831114A7-271E-9197-A981-5541D5D379B9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09A4870B-079F-A1CD-B80E-A2F97C2D27DB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9E23FE02-21A2-C0A4-E105-1F48AE674EE2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41DAA6AE-03AB-9AFF-EEFC-020C80B0A523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57187519-6733-F7F6-F6D2-7892EF195DFB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72D7700F-CB7F-C624-5050-B9E49C346592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08AB1B55-D06C-522D-FC67-DA32359DC188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5F6FE039-3C95-F04B-33E3-17EBEF9F8483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1B5A84A5-AEDB-CD7D-ABD9-EC4FE6A3EF15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B51AE29E-F1E5-E63F-29BE-D28CEBB63893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030FCDC3-6252-44ED-7703-120CEFF93BAA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07F8EE7D-5251-1158-45AA-CC4B62F6C4BF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01457C0F-C16F-01AF-D873-5545A578D2CD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423763B2-DCAE-537F-68DD-0CD52B51CCE9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3CCEA99B-E508-8453-4327-8C04211700FA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49D858D5-8035-F8B1-B590-8F9B03C1D637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EB85A9E2-E037-9E78-5FD2-1D21809A9658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132A305A-7F81-709F-8020-C7811AF8123C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BF9F4115-1535-5C9D-A1F3-1248CC4C0E29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B83336F1-F2CE-321E-76DD-DB7C00C81FE5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08A80C24-476D-8846-AD3D-8F5D123C6F27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2A439CCF-6048-59DB-1E93-F776E7A5FAFF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A6471D46-9664-8C0B-050A-D021B3CABE2E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A2E925EA-2847-13BD-4D8A-85D078684C54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6ABD28E5-74D1-239E-7C05-24457C03561D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17B84370-044E-F64D-E88B-5C25AE5AD220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FF001769-BA6C-B5BD-9C14-00F4A80F68DF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538FD90C-133B-F41F-F9C5-F070533F9C9D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C89C6369-223C-53CF-7C23-7DAAB8D65728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55678658-E65B-E3C8-F09C-4AB67B8B5A7A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BEF70FE4-4716-9580-F8A6-178C4F5796FB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E85C3A82-DD14-7CF4-F508-E33CF4E56BB5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A9E44309-78E3-C000-D1AB-F836970C2B73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6E11D9D7-362E-4A3C-36B6-CC8B9676003A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B8DB2F85-97B3-FD67-9EF5-3B683488801C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0FA050BA-0649-2975-A013-E28242E12959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507224C9-0C21-040E-E08D-26B7E16FF459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02A0C90A-7FCE-130A-B7CB-395037381648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AE314AD2-7469-ABD8-6020-0A656E03B236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F63A1246-A748-0DD0-2B1B-70BF078FC713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8D4C4B9E-3D1F-45A2-FFF7-B8101A543BA0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49BFF949-BDE8-6B3B-A222-9867963CB8D6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761141D4-D896-6957-EDC3-93832328E50F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2D9E4630-34F4-FF64-F619-9C1A29B8BE0E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6DC50226-0E92-5797-E859-55FEC70EC805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931F3639-0938-2734-5E43-E80DB23F3ED9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8C09EDD2-E591-6309-5CAD-79D5ABD4570D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5F5060C9-A541-0B57-39D5-087060861289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A107AC96-C2EB-F9BB-1D11-53D3622C3B38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3EB61C06-224A-F687-B7DA-AA7269BA94CA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A35BA883-03FA-FF74-866A-210EE8741E8F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53684E49-455A-0E0C-FA79-524B16508C08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7C82F369-EAE7-3111-F1A9-66F6A09B26AA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7390369B-80D2-60E8-9B71-9AF6D5D87B8F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7FF78191-D4EA-E5D8-E4A5-9F989E092FD2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F2137392-0AC7-1AE0-5A6F-0A326C859C4B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0294E1B8-96EB-604C-847E-FC54D1180575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76585CC1-101A-5EBA-9B06-400A8D894E8E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532CCDD0-0FAF-D25B-5A50-3F95A2615D6E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E329B7CE-DDC4-B3A0-345F-8BF7DC6BDD2B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4E45C137-9EF7-4304-6A7D-0AB08C3C0F9D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0C652042-7FB2-B37D-C847-D208B47F2DC1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7EFFC9A2-1B33-92C3-7E41-979CF4EAFA76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8AD6D5BE-0EA0-8E58-423A-15AA4A86F24F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43688DFA-79A9-0DF9-A8FE-81D2B4D54A31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058BEF90-5EA5-C0F8-4F00-C96071D55C26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E400FB93-4E58-E6AC-4D21-BCDD1D9F81E4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10A1F80E-D8FB-588D-334F-949C7E57A6F5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F3A98347-CAFA-D1E5-A0D3-C49B86171BC2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0AC66EF0-FA5E-8626-7F51-29967AAD0D47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629D2592-098E-AF08-43EE-DE6F936521AA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B5AF8504-A0AF-B7B4-C47E-B2164E34FECB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52406DBC-308A-7C27-A13A-2482A71C604C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4D6C3B93-8D97-1B5E-2731-3AF5EB062654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CFFB7736-CABB-FAD2-DA61-2DBE2BDEE69A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2CB95F33-6336-06E5-55CA-24A465EB5B33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376B759A-E359-3081-83D4-15F35033D327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180A2BC2-893E-8718-AE0B-4013C0D1B5FE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5A585788-8C1F-04BE-BC5D-2B17C499ECEE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B700FDB1-3884-1287-093B-AB5E1262548B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91096D7E-F60F-DEA8-1B45-AA8027678598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F724960C-B818-0E8E-9B64-E7D292637765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25237721-D94A-086F-7028-BF39A3ED3597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E2350F9A-7E11-C3C8-D6D8-DB9979003AC0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B79EAFFF-CEF6-9E64-0363-B88E14E4B232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606E47B9-18DC-1326-2B5C-8974B63D0AF5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88370260-DCF5-D146-5690-D8D446E58DE9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4E69BC1C-9230-C46E-610A-865E9FDF2C95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4E241ABD-4BB4-F81F-8E6C-BB3C2D9EBA04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32172A9A-2D6D-72B2-409D-A398EBC3E308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534CD6EC-15D9-A418-5504-0D9DECEA1DF1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0BC1B949-1C7C-BCE4-3E4A-141876F4AB38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F8E60813-9E36-C0C1-3DBE-3FD53244B7C9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019D0FD8-2A9F-D650-7296-F4A06DEC9F4E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5A0FCA1E-9483-A672-8C4B-9136DF419578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EBDBD064-CCCE-DC02-E2EF-6EBD85A7DC28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D39BDDA9-676D-D5EB-E74D-810F37DED486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E1F62840-CE89-B9F8-567D-92F1B892E26A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85EE84C0-AC23-00AD-1127-CC787FC35A2C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DC467B92-A89B-D5E4-2BA1-56EEE909B0B2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38303EAC-9FDD-FBF2-42BE-7F969591F765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A88477BC-391B-B2B3-5939-D1BA327515D8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7EEB2632-19C4-DD9A-E197-758253B44549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C24C1406-8BB5-AC72-0B87-ED32B430B799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83AB3042-80BD-3048-246D-A76EA831AA00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CC137047-0F7E-DCFF-6F77-EFC234ABE103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6686AB15-33CF-029D-20A6-84B0506D69E4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CF34D019-15C9-F41F-AFA9-4721F71FFD1A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99FA27B3-8347-0E9B-7671-6CEAC32FB4FC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971E6E0D-21FB-94F4-6501-1C2EE2070AE3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B29CB2FF-EFE0-2602-6980-27D71062DAA7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5ECD8799-F361-3B9E-EAE0-F4132FFDAB96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249E462B-1AC3-276E-22BE-98BBA38EBAFE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F225BEDD-3B64-2BF9-E5F7-1308501E2DF2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6AFEDEEA-8ACB-F2F7-D60F-B2550D374AD4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3CFA6A90-A81C-FF24-D7C5-E237E9E722BC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591EE2E8-DCB4-C6CE-FE87-04BDC6888FC4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604AF317-E264-E48E-32CD-5464737EF3E8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AB126DB0-A3B2-76E0-13D8-9AC278C29E8A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888D51E3-B843-C383-FEC0-A3CAA1ED18DF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E40E633F-20FC-A413-B35C-E95BD3D7E3C9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A1D55191-E70B-AEE4-2AEB-3BE7278CD9DC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42CF2A43-6DD3-79A6-7814-A34215B9EB98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7B649455-9F6F-CEC9-676A-BF9B2ECA5625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C1F49C90-2D41-1794-94B7-AB14D631F938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2702CB74-9521-73C3-BFA8-9474C60FBA48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48E71AAA-D61D-76B1-6935-E8C1D11E96B5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84CC265E-9CB6-E302-25D5-B4FADBD5552C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B7A16883-88DB-369A-0FF1-FD39157D83ED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0A78F131-CF43-EC22-1931-0ECFC62F5EAC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0638CB3F-46C4-CFBE-D5C0-961F0FACCCE7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26F2CC42-327A-4F34-23DF-8E0D5089FC2B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4EAC301C-AAAC-F345-8B92-3EBBE490A29F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44336FB0-36E2-3929-14A4-63B5B70932B6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193A51C4-43A5-E28C-22E4-74EE9339193D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767AC448-E485-5687-0C28-309FE883DA7F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4573BA7C-277E-35F8-B97C-981E2830EA3E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05CF107F-AB74-C4ED-EE92-301C42EB3B00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4F93D190-46FC-0F3E-5587-C3A2CD18DEDF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A3C0D411-850C-FCD6-EC1B-7296B006484C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815B3EB0-E257-210E-864C-913459F3F746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4F5125FC-3ACF-57AB-CD9C-BC7D7C41B7DB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DB5030BA-C838-4E1C-DC0C-6B8618C14C0B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E4E42D44-13C3-4482-5140-A4AD410406C0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FF1FADA3-9A6A-6C93-CD4F-58E59FE5EECB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45E5BC31-E761-2B76-8A77-A7218A6B0227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7B182DA6-8441-950F-48AB-6124BBD8D106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603B4F72-6D96-FA04-FC67-DC36C587D242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6C822085-D27E-97B7-8FF3-C7B432F72772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3893DCB5-9FCB-D57C-89F5-41E9E8D6B948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E384FC9B-7975-0C3A-9CC5-7F12AC8E38D8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2674DF6A-9135-36B5-9D41-C6D57FF81208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FF04578E-6393-83F3-FF32-5C828BFEF4C7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6B8F8BEE-D88E-E68A-D1F9-8B297985E092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CF9AE290-DAC2-434D-1028-90C90DBD6723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3BD0ED90-86E0-8613-025C-32D290B21D57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EF52BA4C-F90E-1D74-EE6F-8FC0DF988E9F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AC9ABC9A-EF95-4137-764A-676B69B50025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09458908-0C02-F7B5-48DB-4B8428017322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35630697-1AC7-BFDF-AB28-5828245E8CEA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6CB9266A-B840-AAE1-5693-632EE749E95F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132ED19B-87AD-7F24-B835-E7903BB62903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44C2B328-4CA5-6EFB-C194-76C84B64F738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5506D4D4-81CE-9916-B3A1-C746AB88A402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79D53E9A-70E2-F939-DBD8-7A467582958A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A48642F5-51FA-EBC8-1FBA-151DE8559425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B4A5F4C3-6F4A-E71E-6703-EB1729D80F11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3D5565FB-7014-C9FE-DC76-348651156E68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1F2C218C-8120-465E-B10A-4D944A91165A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66D331BD-322A-A491-ADD1-197CDCB105F3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E4319C00-935D-31E8-E4F1-56CDD546B7E5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5635CDA1-9593-2BC6-74CA-565673341C73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D86A96C2-BD18-0F6D-B091-5A6C8E757077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6E98C553-59C0-EF23-77A0-BD1F0312B491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8CE719EE-878E-DA26-AA22-1693D383EAD0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A068515A-35E4-1E68-C822-F729856E8808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D54ACF44-13AD-85F3-FC7E-F5085E8D9847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54BB686C-501F-92DD-8A75-E66AC56D9218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47C366C6-F2D4-1AA1-3D22-69DEA8E02174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8E2A1420-5B9A-400C-05BA-843968F64FFD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FDF76F07-2600-23C2-E344-C0791D0273ED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3FCBBE49-6160-8174-4EB2-E8008E378437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426C43FE-6650-DDDB-E7D2-1365D4C68DAF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4B16702C-E11F-A81C-4EDC-C076451BA83D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D6C31525-25EB-52AC-FF6A-7BFE6785D219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03876DF5-EC81-9C0E-7E38-335F301BB502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3C2F981D-3AFE-58F2-4656-B2FF9A0C5517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3144300E-CE8D-C096-8EA8-42CADAD830E3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EE402147-BAC8-6069-61AE-1B446BF14C38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5A68E41E-5E77-FEE7-BA65-75EC75A5B4C0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53B7417D-9BE8-B4A1-B4D7-D0288CE87A27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FBFD64EA-F97D-0319-C71B-021EED637A05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7D8FA372-6BDE-2F25-418F-391261989113}"/>
              </a:ext>
            </a:extLst>
          </p:cNvPr>
          <p:cNvSpPr txBox="1"/>
          <p:nvPr/>
        </p:nvSpPr>
        <p:spPr>
          <a:xfrm>
            <a:off x="685800" y="134870"/>
            <a:ext cx="2136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系統架構與設計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0C48DFD-89E0-825B-A0B9-7251B6A34DA5}"/>
              </a:ext>
            </a:extLst>
          </p:cNvPr>
          <p:cNvSpPr txBox="1"/>
          <p:nvPr/>
        </p:nvSpPr>
        <p:spPr>
          <a:xfrm>
            <a:off x="1061720" y="4426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平台充電站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B56F4E-1740-FAE0-09A2-2F1770434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719579"/>
              </p:ext>
            </p:extLst>
          </p:nvPr>
        </p:nvGraphicFramePr>
        <p:xfrm>
          <a:off x="1381433" y="785556"/>
          <a:ext cx="6228735" cy="185420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164735">
                  <a:extLst>
                    <a:ext uri="{9D8B030D-6E8A-4147-A177-3AD203B41FA5}">
                      <a16:colId xmlns:a16="http://schemas.microsoft.com/office/drawing/2014/main" val="36010334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37751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4288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Endpoint（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路徑）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89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查詢充電站列表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985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新增充電站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375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/admin/station/pile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新增充電樁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9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/admin/station/{id}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查詢單一充電站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58573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ED1A398-0CC8-C903-7F16-2077E6F86712}"/>
              </a:ext>
            </a:extLst>
          </p:cNvPr>
          <p:cNvSpPr txBox="1"/>
          <p:nvPr/>
        </p:nvSpPr>
        <p:spPr>
          <a:xfrm>
            <a:off x="1061720" y="26748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會員升級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8F3681A-805A-3917-6E60-0A8FDF6D1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967975"/>
              </p:ext>
            </p:extLst>
          </p:nvPr>
        </p:nvGraphicFramePr>
        <p:xfrm>
          <a:off x="1381433" y="3327196"/>
          <a:ext cx="6228735" cy="125984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076245">
                  <a:extLst>
                    <a:ext uri="{9D8B030D-6E8A-4147-A177-3AD203B41FA5}">
                      <a16:colId xmlns:a16="http://schemas.microsoft.com/office/drawing/2014/main" val="1727318854"/>
                    </a:ext>
                  </a:extLst>
                </a:gridCol>
                <a:gridCol w="2076245">
                  <a:extLst>
                    <a:ext uri="{9D8B030D-6E8A-4147-A177-3AD203B41FA5}">
                      <a16:colId xmlns:a16="http://schemas.microsoft.com/office/drawing/2014/main" val="220581200"/>
                    </a:ext>
                  </a:extLst>
                </a:gridCol>
                <a:gridCol w="2076245">
                  <a:extLst>
                    <a:ext uri="{9D8B030D-6E8A-4147-A177-3AD203B41FA5}">
                      <a16:colId xmlns:a16="http://schemas.microsoft.com/office/drawing/2014/main" val="2864532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Endpoint（</a:t>
                      </a: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路徑）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259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/user/tiers/subscription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會員方案訂閱（升級）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06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/user/tiers/list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方案列表查詢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68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571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519AB6BD-D286-8784-E253-7B9022C7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97180892-778A-6490-3C7E-A29CB661CAE5}"/>
              </a:ext>
            </a:extLst>
          </p:cNvPr>
          <p:cNvGrpSpPr/>
          <p:nvPr/>
        </p:nvGrpSpPr>
        <p:grpSpPr>
          <a:xfrm>
            <a:off x="7683910" y="3765755"/>
            <a:ext cx="1460090" cy="1377745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8D6B1D6E-83DA-0401-EE30-935EEE47EED8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BAF42B38-7C3B-00B5-5BC1-84354098FB06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100DDE71-128A-D5CF-69A3-C1C85C16D0FF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32CADB60-B238-A826-F732-4986B5325C6C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328507F5-AA98-2D7E-CB2E-5070D45EA490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B997BB85-CED2-4D59-01F3-175E409FF2A9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225C263B-9C45-4E18-510F-7584CAA0B031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C83231DF-3B95-8270-37D0-37980FF2C734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B6B2DAFF-B0E8-0873-5C05-15101B7791CE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A3F17BEF-047F-8432-6AD4-BBEAFF291FB4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CE71579B-F70E-CA76-5C82-2F5C695742CD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9C5B7D61-8020-A4D5-6D24-F594B4B71CB1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8EE5F51F-4C60-0C7E-8593-2684A59CAD1F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32485B13-8396-9A37-DB32-DBE231D03868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F85C52CA-B66E-EDFD-29DB-CEDDA1BB663F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F2D09C98-4C5F-B18C-80E0-85F283F9DF23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95216CB8-C8D0-EDB0-42E6-441FC96E5D51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21CCB8C4-C1F9-C018-EF98-5024F3589C9F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2AA46C6C-33F2-B7C5-2CAB-819D4749F541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14964BAC-16CA-45CD-1940-4C581EE1BC3B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15AF6150-5DE6-DA97-D3C7-3CAC58399E97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7D24C782-AB15-6640-FB76-F879DD6EC5C6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65BCE229-CE39-819A-9466-497F30FB0678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77DD9F27-EE26-C956-6053-89893FAB635F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A0E45958-D6F5-D42B-C4F8-AB5F87C54ABF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95A2521A-C157-A4C4-0816-0317A15956DE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5F3D8EF6-10B5-0CFC-1399-D1C503EEB93A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7648453A-CC68-0FC3-5163-AA1363AE1EB7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D7F18739-CEA0-3CB8-FD85-D55279AB15AB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D3DB9806-7EB3-E3B3-5E2D-A02AE81D37F5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3828D11C-1266-067A-6976-55AC9C09D3BE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F0ECC7E0-70F8-690D-FB22-26455D812FAE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090135D6-2657-744A-6A37-4DDFA6AAE177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C863D1CA-AA8F-334C-BC66-D60CFB1C67A9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2EF0D0F7-0F4E-EC30-E3C9-73E15777DB13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5E59256C-2D89-A0F1-D072-7D1927B89617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D5C92F03-D019-6990-9996-184CF05C309A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27CBF994-591E-6B1F-6417-EB785517F361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D82FB0A4-C0F4-7369-3D70-2EBEA35D3001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C5750CCF-33A0-8952-72C9-63596EE5F119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B3E2F8FA-CA49-4EC4-D905-A0E23B159BC6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931C5037-CC17-0A49-3540-48CDA1B10832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5073A688-093B-DDD6-7A0B-68ECAC48F7CE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80BA0BEC-9AFF-67C0-C549-AB6D5D56F099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E7F511F6-0271-0AD6-614B-C0A3FEB9515E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2E3F9FE2-0752-76F6-B798-40E66E0CF301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9F841EE7-B5E6-AF3A-52F6-E0ACEDBC5476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FAF5EC42-334E-78D2-D500-2416A7FC733A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E410B9DF-A888-6B86-FF9B-30E629F93377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8FC31613-974C-A58E-4A36-30037A8150BD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2B06A0A8-BB97-34D6-908B-E5429B31735A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9424F838-6170-EAA8-4517-8D164562185A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5C89EDC1-99FD-2523-2536-6A4ED58D2DFC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6C7890C6-A1F8-9DAA-69E5-0B149232A4B7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995849B0-E4FD-7A0A-CA46-A4B74827A94B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C01D0A08-4AAF-076C-4ACA-A14905B2D4D6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265CD592-1102-F5F5-0D97-2DC7EFB34EFF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F65B18F2-DC91-56BB-07C5-1A5AA1B1C36A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CEEFB11E-9EF6-C7EC-DF36-FF8C15115771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27024D10-918A-1075-C7F6-178B76744A69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934973B2-7D87-EC7A-CFF0-8BA7015759F6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B4A49A73-C164-C377-E536-D65B606F2DBA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424C2A11-4D51-3D40-F8D0-4601DA0C671F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88641E16-F43B-5B78-3EB6-A369006D6C6B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0F34609F-8EEA-333C-B079-77FC0EF30289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B71B5534-9F0B-D8BF-413D-753C303092E0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75D4A182-F3AC-6A3C-2DBE-A46E9C91C0C5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05E9FBA5-584C-D3E5-3E90-9087EF4C98B0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4AABADE1-C9DB-883C-5D8D-8407DE595104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B3543B9B-A41C-C184-551A-F7CDE631B5BF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5AA21D24-AECB-02C2-615B-E60985EE6C3B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D3FE15CB-3839-CB38-1999-261B150C1D63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85F4E562-C764-B3CC-42C4-9ADE04515E22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E0EA4569-AFBA-1CFC-C8D1-575D5E6B3573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0496B52D-C65D-ABF7-AA76-3FEA85D42388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78721021-58C1-9A7E-9D27-39A7D6C66B44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3C10F55C-FE39-591B-2DE3-7C5D233E0C57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7FD88F8E-D77D-94DD-A086-59BA32642D61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4811FC5D-5DE3-BC3A-64AF-7D4C914748A3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3D5288E4-FE76-B250-7899-EFE245B29D03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26BD7B49-FB63-425A-1465-8B23315F7378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1E6EA679-93AF-E0D0-2A2F-8E4C9BA95ACB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21FF8B48-362E-FF4B-AD3E-59A694798FE6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8E740A7C-2BBF-4D6D-D040-B939BD6D1FF6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5243F2E0-4050-61EC-4E03-1666576C06E2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84B47E7D-6A23-4410-D87B-D3E94D9C3BE4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1FB15839-0BE9-7C05-0583-44C437DCC998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8F9F72EC-9565-BFE9-5F9F-1894FF7F2F2C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C424E50B-C6F8-1015-DCB0-95EAB1B1F3D6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B538C532-3F63-6035-5991-2B84362F0994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2A17E7A5-5B21-0C61-B066-F93F392E907C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1F8FDD1C-E7DC-421B-E7A6-465D943C8D5D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EEF46F55-2E89-F072-021E-1CCAD083E2D8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E018EFFA-0E80-0246-9432-79AF91C75F3B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35596033-5D12-1D5E-FA49-351BD0170E1D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3393E7FC-110B-D85C-C241-EE77E924DEAF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144690B0-BD81-50CA-4328-42B39E6AA7EA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9379DF78-2AF8-8203-3A4A-DDF7A87B1712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8096CDEE-2367-9CF3-8C24-C6689F80D758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7F0587C2-391C-0B57-2F27-9A0A3A07F755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5BB52C90-5702-69A5-72D3-0C16B1884A5E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6B7144E3-391E-A97B-3D0C-21D77CC464FE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5CB104F2-08E5-5C6C-7383-DE1AFC74B676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1005F858-5068-89DA-103C-B0EA14A28EFD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24BE7398-FB0B-7220-13E3-96FABA021E08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13CF8A40-3532-E4B8-1FE5-7263EA6AC1A1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9360DFEE-BA9A-DDD0-E723-7CD44BEA1128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7E43F9D7-A949-90D6-1B5E-038CCE84869F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769B1405-88E4-E142-1FA5-F3D822A0AD2B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3DA922D0-6A91-C593-2668-FC678564E15C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79BF5406-00B0-92BE-B306-27F9974FD31D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50B104F8-9EB3-CA33-932C-92A7BC337378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54E2536D-CE2F-C800-C2C9-951B880EE57A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4E240662-3CF5-9778-6AB9-4DA2DCD5CC95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4E000100-D810-E66C-0707-B926562A48FC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C46F311B-6066-F6E9-524D-2347FDD2B3AB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0106F029-B756-0540-A732-C13D85270FF4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DEAF26E0-2749-3DC5-C99B-CE218687DBBF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B165C413-B057-E46D-6A2D-7044C8F20A4E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5E6131ED-D3BA-BC96-D6CE-5F8928E8BB9F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6E82DE36-B9A2-FD51-04BA-2C9BC4527C2A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D6CD714F-A6B1-9A10-04D6-288C8E713523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6C2BC916-B21E-C96A-2E9C-A5832A719341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58E09475-24F8-BDAE-D33F-3AFB90FEE39E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D32A233B-07AB-143B-90B5-B674ED604979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C119CACA-65CB-B877-946D-024E8C722B71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EE8AB605-F1AF-8CE0-4D7A-EF0B5D486BC3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53EE039F-C08E-ADE9-C6A2-8B78F3DB4338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53B7EDD2-E97A-8E11-AB2C-7E34633699A3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3C5825AD-0FF9-F0C5-9412-429BB2235D52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CA656053-45C4-9B5E-BDB5-C9C448A9A318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92926C77-BBB5-44BD-4CF3-B27C37D10999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45BC514C-58FD-ED35-D64A-4DEE087D3ABD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46E8CEA2-563E-2ADC-9587-52C991861D53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90C7719F-D14D-D70B-8AE6-25A5C54644C2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4289D069-DA3D-673E-8CD8-5F278DE0F0B4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1283D9CC-368E-1431-38D4-4D50AACA89C4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84AF5A8E-3106-0A67-3E89-BDF4F88B9B5C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C2FE5C24-D3B8-1483-E21D-7083537FB870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992D6C21-F83D-D24A-9859-B67F3B7DD712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28A825D2-AE9A-0821-57F7-9770C29629F0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B0F58A24-AD4E-AD08-B1D0-FCF69A921F4B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AF700B57-E9AA-CCB5-EE2D-AB05544C283A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00BF0B9E-7EDD-21D8-B162-B683ACB3D30C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4BC8DF0F-1486-4BAB-3066-CF3548F59545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21F22922-602C-3CE6-0F31-A852A2561790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BE4D4ED0-D8C5-3519-5675-0FAC02B4C542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CFA94A16-8642-73B1-34FD-0620D8F0F5FF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69F31E53-4B4A-3B90-C2DA-E9BEC6706AE4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EA749F6D-E316-097D-5430-19454810673D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CE6B6995-96B5-6D06-D193-514F1D04E900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76B4DEA8-9A0F-6772-729A-0D4B4525F2BE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9F4D5218-0F96-5566-5AB1-3AF20005EFEB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927DB045-45F1-066B-E103-00CF69D01C78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8EEDC181-64F3-904A-418E-444FB4888EA2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EB09223F-7567-D507-894F-151ED3B2518F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626445D0-D597-F2A8-797E-E120C04DB65D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4CD0A6DF-F67E-16DB-F0AC-5267331C66C8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A0370AF6-708D-8FB0-5C3A-C2F7307F9EC1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4E0DC285-AF88-315D-9C0D-A9845A7D5D29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5EBDE417-082D-BA64-0D4A-E69E4E1B5C06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49FB4562-9B82-52FC-BBB0-8773530D61A1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2D61BE19-373E-4E62-DE84-D6AFDF3D9C04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8F5F2D37-6538-AD88-BCAA-609600FC2F61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658C6C72-182C-1226-44AA-B93ACE3A2909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E2728227-903B-C67C-665A-36922BB3028F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EF76099A-1110-BF99-0E68-E545F693BFE2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19B6EFA3-2B35-5B11-D560-1E7585C1C47B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2D750859-7E8F-EB2C-7C96-B6ED4F8D8997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44FB5462-3644-7ABC-4ADC-3F59D95F2AD8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104C5D34-5900-0F27-AE57-AB6D1D5A41F6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4BACC151-46A6-4DEC-A79F-30B5A996F50C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FFB2A5FF-6197-BA21-3C00-FA8C3C7108B9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F76232E5-9D6F-FE26-5EEA-ED6B40DA95A2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83D1BD72-2F6D-31F0-320F-191557CB66FC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73DDAD8D-4F6E-8BE7-E2AF-8B7FA04100F2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13CDF014-F060-F27A-F55C-5FE8B801724D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5FE25439-A2D6-108C-91F4-2305455431ED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D0D47434-EA9F-32C1-C26A-E1622AA8B26A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1F728347-1810-E8C4-52BF-7AFDE7373AF2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64A0DBE0-DE45-0F90-7CB9-3485D0EFB324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230078E4-D396-B7E4-891D-74742440CF14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90C70063-4018-62F3-83CF-873EC99B0960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C878FAFA-4659-B868-BAA0-3A686EB80BAE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39BA2349-9A4F-DD64-E516-EF57BD78B6F6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2F2286AA-5146-0C88-68B9-4F7D25ADCF1A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7B18906D-9BFF-65DB-CA36-F1D580DF89B2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1E62E795-F596-5831-BF24-DF06B21BBA60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F713D260-09B8-057B-2C1E-4D119B4ED59F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FAF6FF40-44A6-67F1-407D-B4A553E22396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DBA8B9A5-9BFA-B407-168E-B42213F2FB91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C7136B59-077B-4C85-E84E-5923A5DE057B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F0CB4462-ECC3-A575-2ABB-F70A5EE240EC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A0F79F7E-11A6-0C83-A3B0-2F46F9B74C03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5DC1CE1D-6006-D65B-960B-6966E64FDCAF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7D7BBBB5-E6D2-DD48-DA46-8202B2C5A7BB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418681B3-42DD-117B-936F-400D62257265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3A016203-1F37-D7C8-6A11-3E2F4DAFB090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B539794A-25EB-F593-694E-AD51F21FC773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6B17006E-5199-0486-14A6-0D4BBEFD8002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AAEDF5A9-FD63-68E1-4E92-C3CE8E454683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6192A35A-AD00-B9E5-DC8F-40C9AE43146F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66881EBA-A4A7-35D2-AB47-3CE7D8E419BE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A5C29D53-4E26-F593-E694-5A0CA920D000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BEE37F52-D752-26AB-AEBB-E81A21B91967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A67381E6-248E-0423-A6EE-7E274F882ECD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A44A7B45-74A8-AE8B-0300-D89BB2333712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A6F1A4CE-AEFF-7333-60CC-ADC244AFEE2D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7229932F-E8FF-B7EF-BA20-674A3B483E42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BF762CE8-D1A4-894C-78C3-64886ECAA58B}"/>
              </a:ext>
            </a:extLst>
          </p:cNvPr>
          <p:cNvSpPr txBox="1"/>
          <p:nvPr/>
        </p:nvSpPr>
        <p:spPr>
          <a:xfrm>
            <a:off x="685800" y="134870"/>
            <a:ext cx="2136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系統架構與設計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A200D9-3014-A511-82DE-DEB0B2C94F33}"/>
              </a:ext>
            </a:extLst>
          </p:cNvPr>
          <p:cNvSpPr txBox="1"/>
          <p:nvPr/>
        </p:nvSpPr>
        <p:spPr>
          <a:xfrm>
            <a:off x="1061720" y="4426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會員帳單 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555C21B-0E1B-89EA-CA30-CB65ECB1E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914941"/>
              </p:ext>
            </p:extLst>
          </p:nvPr>
        </p:nvGraphicFramePr>
        <p:xfrm>
          <a:off x="1524000" y="962538"/>
          <a:ext cx="6096000" cy="74168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856840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59135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59178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02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取得帳單資訊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43697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083B0F19-E45C-D99C-E557-84B37F122ECB}"/>
              </a:ext>
            </a:extLst>
          </p:cNvPr>
          <p:cNvSpPr txBox="1"/>
          <p:nvPr/>
        </p:nvSpPr>
        <p:spPr>
          <a:xfrm>
            <a:off x="1061720" y="191633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會員 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076231C-0C6A-4A72-45F8-7D4BB5843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262664"/>
              </p:ext>
            </p:extLst>
          </p:nvPr>
        </p:nvGraphicFramePr>
        <p:xfrm>
          <a:off x="1111046" y="2505769"/>
          <a:ext cx="6902247" cy="148336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300749">
                  <a:extLst>
                    <a:ext uri="{9D8B030D-6E8A-4147-A177-3AD203B41FA5}">
                      <a16:colId xmlns:a16="http://schemas.microsoft.com/office/drawing/2014/main" val="3245936518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1874923494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2479388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395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/user/update/{id}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更新會員資料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961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/user/update_pwd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更新密碼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47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/user/info (by token)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根據 </a:t>
                      </a:r>
                      <a:r>
                        <a:rPr lang="en-US" altLang="zh-TW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Token </a:t>
                      </a: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取得會員資訊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887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52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54106548-7BB0-15E6-54F3-1CE46A30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B7EC0963-DBF8-0138-1A94-5D33D4D3FA6D}"/>
              </a:ext>
            </a:extLst>
          </p:cNvPr>
          <p:cNvGrpSpPr/>
          <p:nvPr/>
        </p:nvGrpSpPr>
        <p:grpSpPr>
          <a:xfrm>
            <a:off x="7683910" y="3765755"/>
            <a:ext cx="1460090" cy="1377745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B56785E9-ED90-45A4-FB20-6F05D74FF840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B2A82698-BF24-F60D-CF22-631444DEC8E5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FAB65E08-CB01-A7BB-F13D-EFC480C9A7CC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B5B7C58D-ADA9-1336-3C01-A8390E11FFFF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D608D175-A5CD-151C-7CF3-619604064BD4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3A11A4B5-0305-272F-4C0C-CF04BA863141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F2A5C127-9B06-3AF5-A982-9682710F3373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326CC4E1-E367-A028-DD7D-E18AB8C102DC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6E2F71DB-1F5A-A8B9-A4FB-CEDC9AFEFD1C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C5E1A751-59BE-3DAE-1D46-2FBB13309732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A32B8028-5A8C-AB1E-C059-9C32A289DFA2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9E3804BD-AFB6-FF55-556E-55044393D109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9C45E077-EF0E-328F-B212-8B2BB56E9FAF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DEDD20A2-B6D2-EA29-1D37-96A90E0C714B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D8631906-D689-203A-C3FB-3FB1CAF28EAC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5C90C69A-CA30-72DD-8916-5EFB3EA20D5E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853DD8D2-758C-39E1-BB3A-DAE65CD87387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82F8FDEA-238F-2F41-7472-460066D50330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D071B4D6-113C-9316-82A7-CF1C0236FB6D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074420EB-9F85-FD19-9C8B-12C7EE5B2894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82248F48-25F1-60DE-21C9-F14DC592F285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F4ADBBDB-1363-88E8-3E7F-060E77A3E462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704E596C-7A97-3B87-BD06-D7B5D1188E4F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63459F28-862A-BDFA-6CD9-D3C6457D793B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DDB0AF9B-B831-A0AB-B9B1-042621397CDA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68B0FB9F-80C2-754A-965C-3208A5E92ECB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0C708E2E-A19B-6AE5-F35B-801F4076C67A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B1524080-97EC-6754-F452-C6F3F3550E16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7CFE1CF6-B918-BEA3-4EA2-F4DEB9E11A9A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42784257-7B15-028A-771D-1F8460C5C4FD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68614B9A-AC7A-DD95-E40E-9AE6BF9B92A4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C340099A-0D35-B605-F824-E67B53FEA6DC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9BD66643-A89C-B473-A229-69DF1F023B46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BE253DAE-590F-A41F-BF8A-16E0F6AE6CBE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5983E5AB-2B2B-515B-0038-92A012FC574C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2CD33D4A-91BC-0640-A599-EC8441769456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708E19F7-CAF0-5DE6-688D-9E0223D5F35F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F53C6593-1B58-4BE5-B27C-90F5142B45F1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595E94C5-44CA-E945-3AA6-A1CDF483BA14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73146C41-9175-9CC7-CCA4-8B2041241F5B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93BCF575-D5E7-E03B-7A77-5F40501F13FA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9E117F01-4806-62ED-1D08-11DAA4C88A44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3E669195-B991-2019-0C6E-D3E74099DDD7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502EB8B3-B844-D149-A283-03FD22E0292B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5695F4FB-D9F6-3E2F-59B8-7776257C8F51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828E9CC4-529B-05BD-A8A1-631F8DAF6D7C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21E48AC7-F3D8-8858-0B57-44D286DB714C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CCC1F8B6-9766-64EA-0B85-9DA93D55DD3D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99770D93-EECF-033E-C752-A5420451F09D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814533A1-445D-F5FB-4108-603E1CA28185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4AE8C82E-1F0C-B53F-A8A9-BDCAFDAA1606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2F2F6AC3-169D-27F9-F302-44A31A2FB003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1D2824D5-F992-6BF2-7453-1CC832583550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2E8EE332-5B2B-6FD3-8ED2-4661D6D6C051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16FBD30E-318D-B5E5-592D-66AEF0A6036F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60447AC1-E2CC-AEEE-D6D9-A04677153382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6290C31F-9E3B-37A7-5D24-BA6833189B25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58D654DC-0B0E-99D2-36C0-3B2324B75D40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FF68E398-8073-F7B2-B4E2-1565AC4E370A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B7771F51-563D-4833-B69C-4EFB1F66AD66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506498BB-C867-3181-F3D6-16EB32FF8B4A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296E9766-1766-F364-DCE7-705CB3EF845E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9E5C9E6C-76F1-6343-C828-4290A7DA1788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0F379F4E-01CE-F6EE-D62A-266FAEACE3C2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4133718F-2282-7531-840D-10B5F58A3B81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5E011A77-B04D-D23E-884F-B9C1B675648C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B0907EE1-2F2E-5BBE-9C16-D5FAB083B1C1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FE59B8DA-E96E-6507-C4B8-160A285F8F97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0E800571-DF16-4F84-13BD-535F06718CCB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FD66AFD8-EADF-34B2-7767-5EA26DA6C588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EC0D24DA-A083-CCDD-D20A-5C445C5B0CC5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B6D32DB2-59B8-5941-BD5B-FFCC41B698D7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1BE53964-5844-C29B-B4C8-FD9F7BB8633E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F5CC8586-37A4-0FBD-1862-775D57C3064A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3307D3B9-8E1F-518D-6244-6DC07531E77B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0A20E74D-CB52-A1D3-9F17-D533BA0E84C5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F9158AC6-E227-5D22-FF30-DBBF29CD25D8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9A9C03A1-46A0-B569-CE8B-EC0C3E48707C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0868D49F-C844-9039-ECBA-A4C526028439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872BE987-6CA8-2C8D-4A3B-939099BB9C2F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6644082F-5652-648A-3517-766E4834FD02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66A2AA5E-EBD6-4696-D562-38C32A781F6F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BE2FEB61-9386-B39A-4030-92014DE0A550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B305142A-C039-388E-043D-6C79C55E2635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424F5045-3EF5-666E-BD49-59A8E7607A2F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6FFB4E2E-ED66-2FAE-B8E4-852D4E83E2F6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EC63EDFA-28F3-592C-9110-6F15C30F2BE6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97FBF12A-F0C7-9E1D-428D-697231E1F980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2A7B2FD8-FDCA-0088-8587-89D889BE3550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62AE96BC-838D-2489-F2DC-2333F4DBC111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05752433-BEC8-FA0E-8037-0BB5881FCEB4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FCEF9493-9AFB-EC6C-A7F0-DD51B626DC6E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E93F5AF9-97E0-9F61-EBD2-5A01BCE7C593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A0F572EE-6AE9-5947-F3CD-8641BBAA4391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8AE2D2E2-3E1C-C15B-7A2A-8262D8391CE0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3A29D350-34F1-31FE-F5F0-5F4D7E9BA4E2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38D75001-C4DF-9499-2AB6-F3D4654B9065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E1A1DB9E-86FF-3FDD-1F81-15BFD6AE2F12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4EBC05D8-A8BC-1D8B-2FC8-9345798E9385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27F868A8-C23E-880A-866D-3228E4B2C097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A8C031A2-3582-25DC-B3EF-554DB36BE819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934B125E-895D-FA7C-1A1C-0144CAAAC33D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E1022103-38F3-ED89-AA5F-3D25A52CD18A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0CD6964E-92C5-0813-4A16-C1A9D1861510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634A0254-C650-B4C6-723D-FBBF54985F76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C7819A56-9A95-D156-FF1F-4CD38E5C3E01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C8E05372-C921-9BC1-2110-6CDC6D4CEC2E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C00C4C34-1B12-EEC9-D217-E9B0CA923F35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48009F6A-AE1A-1669-B4DF-82CE813BBC79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BD32CB84-70C8-C4CC-0A1A-6DA2D96B9D32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055CE082-A6D2-986F-6E4B-3B6D94F3AD06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3752E450-EDD4-55C6-E965-6752E23DD972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B8F2AA7A-C0D5-753D-600D-C7C66044DDC7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F12B2CA9-7D6E-63B2-533F-0F622F7818B4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3EDFE569-75BC-3953-E240-4610E090CBF4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3CCABC52-F6E5-9AF7-3751-F19CE618C6E4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B5A6E28C-DB1C-F906-35B8-15925A9CFC62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3EB019EE-424C-FE21-8075-566D7862F05F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08AD56BB-2FDE-F0C4-C4EA-55FDF44C7532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9B35F490-D11B-16E4-0FFD-CD9CAD37F830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27CCC794-8827-F84B-776E-87CBA024D899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DA672005-FB5E-A29D-D36F-E086A7C25365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B1B006B8-205A-5FC8-97CE-289E3E29B0E7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8C4490E3-1384-8021-FD26-604F5B448CC4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F218EF51-0B50-8E96-5C33-D350E34146DA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49F67951-885D-5C76-C9DE-404DA9C54904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C576CB36-8D47-2915-EBA7-99D953791C93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9644F431-A7B3-20C9-93F9-C9D590AA2F88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6FBE8C71-EF2A-E2FB-823A-516D0453CD78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DE1E01E3-5625-EB6B-5C34-7AD5E24B3E88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810A6412-239D-D639-35B6-9489ED537DA6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CFBB370A-2E8A-B9FA-EE87-72AED372BEC2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9B33CAB4-8FB2-B243-A9B4-A70AD65CF6CD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5EE6A924-4612-7CDB-E97C-200B9C0F8AE1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8D9B27EA-7C2A-8657-ED70-CAACD9FA9243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A6520550-2B28-4A18-5A58-7016EB7512AD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B532840D-5DBB-74E1-4C47-A4C957461D54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2668BBF9-DA9C-123B-31E5-72EDCD62C2BA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5E473895-9675-A34F-D7EE-BB5A9D266C79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4D84F081-6C00-00C4-B289-9B64740125F5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393130CA-8EE0-4A1D-BA9A-E412D7D16625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AC25AE37-044D-74F9-8913-68F93B33C3C7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84F5B85F-AC8E-954E-C72D-83D649776832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6878F113-CAFF-56A3-BC5D-41265AB79177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E088C3FE-B5F4-7E98-F51A-E0F0C4E8C293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1A0C46D7-143A-F068-1B42-C69BD3DA60F4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2D913553-CF0D-4FB5-D55E-BD55F432E6A2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D023CDF6-E943-81FC-B2BA-90410897DE57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C8911C3C-D133-E774-A955-B43025C9FC2A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A10C9019-7078-4D76-FE65-D5DBB88816B6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15F4BA0C-3628-E922-02F6-0FF563D944C6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7E4A368E-9957-97F2-CAD9-A37EAB565728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9661118C-488A-0480-D4F9-55555AB4D4DA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AF11FA86-91CC-3925-9F85-F2F16AE9900A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4A5A9A92-5065-064D-1A04-7A7C7109C825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03D13CA3-9784-2D2F-A7E1-282809AEE9CA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524555AB-DDD9-6C62-37AC-3FCA7A1D0AAE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05351BDF-6690-4909-01B2-8C42CD9855CB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3A3AA18C-766F-0509-C973-090E743668D3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B9B4BD35-0F29-EA6B-A5A8-D730A33FE42E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7E5A3752-C56F-045B-3451-8147E77EE2AC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070DEB4F-1B78-7539-5D5F-D401151374F5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5EC18A49-9318-5749-54BF-B82DA4F570D7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2EF015FB-6AB4-6BAB-BBA6-1A355541246F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29437194-3134-31B5-16D4-0B9A92C8BB13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57B1F33F-8CE2-9C9C-01D5-B42B2A8A7C6D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C529A809-C01C-91FF-2031-2961D56C8C1F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EE1A4281-9124-86FE-CAD2-85BBCAE377F4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CB6AF615-5DD8-A524-B4F2-8D1B97712863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94E5F2B6-EC8C-E824-1DED-87C5DD9FFEA7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2E63DEDC-4D90-54D5-A189-FC4E46455F24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7AE36953-6DB8-E437-F5DC-1ED75D35D7DA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E46AE549-2836-416C-36F9-5AB0FCA1BC29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7D74AF60-0923-B96F-1674-E16445DE7CD7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723DC4A9-756F-5ABF-C3B8-5AED00474FB9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6DB81FDA-8256-BDCC-66D4-5AF03538FA4C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EBF059E0-DB40-A713-BB87-F89983EE25D4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6F236320-DE40-B520-EE07-51AFFA50F718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478467FA-3AE5-6967-38E0-F08487CC7A4B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638CF3B8-853E-1F41-9272-413D4044D4F4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D62DBA1E-8A4B-34E0-334F-4A9EEA07E093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7F43DAB4-BF43-5357-F7F0-31E88CB5BD77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E76B983A-8A9B-E175-08FA-7EA1B6D4E449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8ED697C5-886E-A378-9706-C5E5918CDC0E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A687A849-168C-2695-D646-9F061AB2B3DB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6A4750CE-37B3-C4D0-F9A5-4216E4E31C3E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937D9064-D189-8AD7-23E3-FD8AE1F27CE8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0071D87C-0339-BA24-FF29-987803046650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0038FEA0-B2E4-1DE7-5D52-120E5AD3C5A3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DAF7D3F8-8660-EFF8-8EF0-14DB03372355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E9C178B7-50D0-2FB9-2260-45DC51A4079A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D2A205A0-EB3B-1F66-C74F-3BD016B2F681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B5F7B0C6-0744-8BB6-37B8-61A7EF221A3F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A6A8B71E-D24E-EFC4-B5A9-188DF69E4A93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C319676D-A1F4-DA62-C44C-0234B13E1FC7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CF5AE99A-861C-8509-DD27-0A901A5A5060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1557B3C9-68C1-48EA-3F6E-F4B86E843067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DDEFC047-3ACE-BB92-B054-444E63483304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09DA7475-D19C-82E3-25C5-937D3B6020E2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B0970BF1-9F04-E685-9A86-11323281C574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0591E55D-57F0-2792-4512-9828429347D3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ACA4CD1E-5480-9B1A-B18C-64A17D1CB61F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7B64E824-D111-209F-DF64-AD124196F2E4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CCA0369F-5A59-F811-C317-02BA41365922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3371FF5C-21B5-C882-55E2-289FC0C9C39B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1BDE9B8F-8A7F-D41C-F30E-A5C4520E7EFE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3D452C0D-08AF-027C-A4A4-FA6BC53EE3B7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652C9918-D4FB-A58E-5D95-D2585A87EE6A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D47399CE-C9CF-7FE6-D3DB-41BC8942F439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014FE3-C5D4-3DEA-C511-5A42530F00C6}"/>
              </a:ext>
            </a:extLst>
          </p:cNvPr>
          <p:cNvSpPr txBox="1"/>
          <p:nvPr/>
        </p:nvSpPr>
        <p:spPr>
          <a:xfrm>
            <a:off x="685800" y="134870"/>
            <a:ext cx="2136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系統架構與設計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45B5B8-DD0E-7D5A-9EBD-8C4E3F6D0149}"/>
              </a:ext>
            </a:extLst>
          </p:cNvPr>
          <p:cNvSpPr txBox="1"/>
          <p:nvPr/>
        </p:nvSpPr>
        <p:spPr>
          <a:xfrm>
            <a:off x="1061720" y="4426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會員帳單 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BE6A6AF-3E5F-A269-6806-E09482BC2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128433"/>
              </p:ext>
            </p:extLst>
          </p:nvPr>
        </p:nvGraphicFramePr>
        <p:xfrm>
          <a:off x="1524000" y="962538"/>
          <a:ext cx="6096000" cy="74168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856840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59135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59178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02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查詢附近充電樁列表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43697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F397B500-CDFB-E4EC-7C8A-24C6E08EF4FC}"/>
              </a:ext>
            </a:extLst>
          </p:cNvPr>
          <p:cNvSpPr txBox="1"/>
          <p:nvPr/>
        </p:nvSpPr>
        <p:spPr>
          <a:xfrm>
            <a:off x="1061720" y="191633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 API 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結構設計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平台計費規則 </a:t>
            </a:r>
            <a:r>
              <a:rPr lang="en-US" altLang="zh-TW" dirty="0">
                <a:latin typeface="楷体" panose="02010609060101010101" pitchFamily="49" charset="-122"/>
                <a:ea typeface="楷体" panose="02010609060101010101" pitchFamily="49" charset="-122"/>
              </a:rPr>
              <a:t>API)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1FE22FB-38E6-9825-6F80-71C9FC23B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36234"/>
              </p:ext>
            </p:extLst>
          </p:nvPr>
        </p:nvGraphicFramePr>
        <p:xfrm>
          <a:off x="1524000" y="2512183"/>
          <a:ext cx="6096000" cy="1854200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641258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1916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87791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API 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228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/admin/tariff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查詢營收報表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62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/admin/tariff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新增營收報表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01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/admin/tariff/role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查詢計費規則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4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/admin/tariff/role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新增計費規則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79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92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520B60-C68D-EBB5-228D-70AEF0465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41338" cy="755650"/>
          </a:xfrm>
        </p:spPr>
        <p:txBody>
          <a:bodyPr/>
          <a:lstStyle/>
          <a:p>
            <a:pPr lvl="0"/>
            <a:r>
              <a:rPr lang="zh-TW" altLang="zh-TW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跟其他</a:t>
            </a:r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共享式</a:t>
            </a:r>
            <a:r>
              <a:rPr lang="zh-TW" altLang="zh-TW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平台差</a:t>
            </a:r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別</a:t>
            </a:r>
            <a:r>
              <a:rPr lang="zh-TW" altLang="zh-TW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在哪？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1E3029B-A6FB-1076-DA42-DB233EC93068}"/>
              </a:ext>
            </a:extLst>
          </p:cNvPr>
          <p:cNvSpPr txBox="1"/>
          <p:nvPr/>
        </p:nvSpPr>
        <p:spPr>
          <a:xfrm>
            <a:off x="228600" y="935568"/>
            <a:ext cx="458413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1600" b="1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充電設備並不侷限於單一客群</a:t>
            </a:r>
            <a:r>
              <a:rPr lang="en-US" altLang="zh-TW" sz="1600" b="1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b="1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客戶、經銷商</a:t>
            </a:r>
            <a:r>
              <a:rPr lang="en-US" altLang="zh-TW" sz="1600" b="1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目標使用者不限：從個人到企業皆能使用。</a:t>
            </a:r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可自當經銷：任何人都能出租那些閒置狀態的充電樁，在自身忙碌時段租給正在空閒等待的客戶。</a:t>
            </a:r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變向出租服務：經銷商也可以把設備租給需要的場域，創造穩定被動收入。</a:t>
            </a:r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擴大市場覆蓋率：設備越普及，用戶便利性越高，平台價值也就越大。</a:t>
            </a:r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gg sans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CCF4F700-7396-0999-977A-057D2AE77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33834"/>
              </p:ext>
            </p:extLst>
          </p:nvPr>
        </p:nvGraphicFramePr>
        <p:xfrm>
          <a:off x="4812738" y="2277522"/>
          <a:ext cx="4361608" cy="1930409"/>
        </p:xfrm>
        <a:graphic>
          <a:graphicData uri="http://schemas.openxmlformats.org/drawingml/2006/table">
            <a:tbl>
              <a:tblPr firstRow="1" bandRow="1">
                <a:tableStyleId>{0B0139AB-EF30-4FEF-8A57-3E80E4916402}</a:tableStyleId>
              </a:tblPr>
              <a:tblGrid>
                <a:gridCol w="2180804">
                  <a:extLst>
                    <a:ext uri="{9D8B030D-6E8A-4147-A177-3AD203B41FA5}">
                      <a16:colId xmlns:a16="http://schemas.microsoft.com/office/drawing/2014/main" val="3261333981"/>
                    </a:ext>
                  </a:extLst>
                </a:gridCol>
                <a:gridCol w="2180804">
                  <a:extLst>
                    <a:ext uri="{9D8B030D-6E8A-4147-A177-3AD203B41FA5}">
                      <a16:colId xmlns:a16="http://schemas.microsoft.com/office/drawing/2014/main" val="2823072876"/>
                    </a:ext>
                  </a:extLst>
                </a:gridCol>
              </a:tblGrid>
              <a:tr h="581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一般共享平台重視</a:t>
                      </a:r>
                      <a:endParaRPr lang="en-US" altLang="zh-TW" sz="14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dirty="0"/>
                    </a:p>
                  </a:txBody>
                  <a:tcPr>
                    <a:solidFill>
                      <a:srgbClr val="6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我們的平台重視</a:t>
                      </a:r>
                      <a:endParaRPr lang="en-US" altLang="zh-TW" sz="14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dirty="0"/>
                    </a:p>
                  </a:txBody>
                  <a:tcPr>
                    <a:solidFill>
                      <a:srgbClr val="6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0113"/>
                  </a:ext>
                </a:extLst>
              </a:tr>
              <a:tr h="4495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使用流程 </a:t>
                      </a:r>
                      <a:endParaRPr lang="en-US" altLang="zh-TW" sz="1400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電力使用效率 </a:t>
                      </a:r>
                      <a:endParaRPr lang="en-US" altLang="zh-TW" sz="1400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30044"/>
                  </a:ext>
                </a:extLst>
              </a:tr>
              <a:tr h="4495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借還機制 </a:t>
                      </a:r>
                      <a:endParaRPr lang="en-US" altLang="zh-TW" sz="1400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租借機制</a:t>
                      </a:r>
                      <a:endParaRPr lang="en-US" altLang="zh-TW" sz="1400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352274"/>
                  </a:ext>
                </a:extLst>
              </a:tr>
              <a:tr h="449540"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充電排程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131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94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A4FA7-611A-455C-37EA-2AA35999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17061" cy="736375"/>
          </a:xfrm>
        </p:spPr>
        <p:txBody>
          <a:bodyPr/>
          <a:lstStyle/>
          <a:p>
            <a:r>
              <a:rPr lang="zh-TW" altLang="zh-TW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跟其他</a:t>
            </a:r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共享式</a:t>
            </a:r>
            <a:r>
              <a:rPr lang="zh-TW" altLang="zh-TW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平台差</a:t>
            </a:r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別</a:t>
            </a:r>
            <a:r>
              <a:rPr lang="zh-TW" altLang="zh-TW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在哪？</a:t>
            </a:r>
            <a:endParaRPr lang="zh-TW" alt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AE1FC6-372C-B09D-E815-1E5B1D6062C6}"/>
              </a:ext>
            </a:extLst>
          </p:cNvPr>
          <p:cNvSpPr txBox="1"/>
          <p:nvPr/>
        </p:nvSpPr>
        <p:spPr>
          <a:xfrm>
            <a:off x="212415" y="948149"/>
            <a:ext cx="45922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TW" altLang="en-US" sz="16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有完整的前後端整合與 </a:t>
            </a:r>
            <a:r>
              <a:rPr lang="en-US" altLang="zh-TW" sz="16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API </a:t>
            </a:r>
            <a:r>
              <a:rPr lang="zh-TW" altLang="en-US" sz="16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一般共享平台學生版本：</a:t>
            </a:r>
            <a:endParaRPr lang="en-US" altLang="zh-TW" sz="160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/>
              <a:t>      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多半是前端展示或使用 </a:t>
            </a:r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Firebase</a:t>
            </a:r>
          </a:p>
          <a:p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少有真正的 </a:t>
            </a:r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、資料庫規劃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i="0" dirty="0">
              <a:solidFill>
                <a:schemeClr val="accent2">
                  <a:lumMod val="10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i="0" dirty="0">
              <a:solidFill>
                <a:schemeClr val="accent2">
                  <a:lumMod val="10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我們的專題：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✔ 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Laravel </a:t>
            </a:r>
          </a:p>
          <a:p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✔ 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RESTful API</a:t>
            </a:r>
          </a:p>
          <a:p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✔ 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MySQL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資料表設計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✔ 充電流程串接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</a:p>
        </p:txBody>
      </p:sp>
      <p:sp>
        <p:nvSpPr>
          <p:cNvPr id="5" name="乘號 4">
            <a:extLst>
              <a:ext uri="{FF2B5EF4-FFF2-40B4-BE49-F238E27FC236}">
                <a16:creationId xmlns:a16="http://schemas.microsoft.com/office/drawing/2014/main" id="{57ADD5C7-D403-0BF4-875E-354946413C76}"/>
              </a:ext>
            </a:extLst>
          </p:cNvPr>
          <p:cNvSpPr/>
          <p:nvPr/>
        </p:nvSpPr>
        <p:spPr>
          <a:xfrm>
            <a:off x="314561" y="1470055"/>
            <a:ext cx="248831" cy="25894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乘號 5">
            <a:extLst>
              <a:ext uri="{FF2B5EF4-FFF2-40B4-BE49-F238E27FC236}">
                <a16:creationId xmlns:a16="http://schemas.microsoft.com/office/drawing/2014/main" id="{A068CDA2-230C-45E7-7656-98CD595B8F08}"/>
              </a:ext>
            </a:extLst>
          </p:cNvPr>
          <p:cNvSpPr/>
          <p:nvPr/>
        </p:nvSpPr>
        <p:spPr>
          <a:xfrm>
            <a:off x="321650" y="1728999"/>
            <a:ext cx="248831" cy="25894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CEEEF30-F1C3-0FF2-F252-922C6CD7DD7F}"/>
              </a:ext>
            </a:extLst>
          </p:cNvPr>
          <p:cNvSpPr txBox="1"/>
          <p:nvPr/>
        </p:nvSpPr>
        <p:spPr>
          <a:xfrm>
            <a:off x="4428808" y="2571750"/>
            <a:ext cx="459223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zh-TW" altLang="en-US" sz="1600" b="1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課題性更強：充電牽涉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600" b="1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效率 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 </a:t>
            </a:r>
            <a:r>
              <a:rPr lang="en-US" altLang="zh-TW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SDG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我們的系統則包含：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✔ </a:t>
            </a:r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SDG 9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（產業、創新與基礎建設）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 11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（永續城市與社區）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 13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（氣候行動）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✔ 即時數據準確性</a:t>
            </a: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gg sans"/>
            </a:endParaRP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97DE4B8-6F6D-347C-025F-82BF87E6A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808" y="675902"/>
            <a:ext cx="4356282" cy="184724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ACDB63A-2F0C-AC28-2A0E-D4D591F1A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11" y="2471643"/>
            <a:ext cx="1332688" cy="149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25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A615DA-CAF2-C604-82D2-58D3B750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87667" cy="884749"/>
          </a:xfrm>
        </p:spPr>
        <p:txBody>
          <a:bodyPr/>
          <a:lstStyle/>
          <a:p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優勢在哪：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D12D818-A503-B535-400E-6613C2BF2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533" y="2709138"/>
            <a:ext cx="3997465" cy="226676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C5E15CF-6DB2-E24C-3C75-0E1D0CD10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534" y="442374"/>
            <a:ext cx="3997465" cy="226676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AA8F838-F503-8A94-16D7-A573DF725A2A}"/>
              </a:ext>
            </a:extLst>
          </p:cNvPr>
          <p:cNvSpPr txBox="1"/>
          <p:nvPr/>
        </p:nvSpPr>
        <p:spPr>
          <a:xfrm>
            <a:off x="376280" y="957577"/>
            <a:ext cx="4604368" cy="249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ts val="1650"/>
              </a:lnSpc>
              <a:buFont typeface="Wingdings" panose="05000000000000000000" pitchFamily="2" charset="2"/>
              <a:buChar char="l"/>
            </a:pP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從「</a:t>
            </a:r>
            <a:r>
              <a:rPr lang="zh-TW" altLang="en-US" sz="1600" b="1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能源管理</a:t>
            </a: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」的角度出發，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包含</a:t>
            </a:r>
            <a:r>
              <a:rPr lang="en-US" altLang="zh-TW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SDG</a:t>
            </a: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、前後端與串接</a:t>
            </a:r>
            <a:r>
              <a:rPr lang="en-US" altLang="zh-TW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，打造即時顯示與紀錄用電行為的充電系統。 </a:t>
            </a:r>
            <a:endParaRPr lang="en-US" altLang="zh-TW" sz="1600" b="0" i="0" dirty="0">
              <a:solidFill>
                <a:schemeClr val="accent2">
                  <a:lumMod val="10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lnSpc>
                <a:spcPts val="1650"/>
              </a:lnSpc>
            </a:pP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fontAlgn="base">
              <a:lnSpc>
                <a:spcPts val="1650"/>
              </a:lnSpc>
              <a:buFont typeface="Wingdings" panose="05000000000000000000" pitchFamily="2" charset="2"/>
              <a:buChar char="l"/>
            </a:pP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租借功能拓展到任何客戶都能充當類似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「經銷者」的身分以租賃的方式出借充電樁，以此創造</a:t>
            </a:r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被動收入</a:t>
            </a: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 </a:t>
            </a:r>
            <a:endParaRPr lang="en-US" altLang="zh-TW" sz="1600" b="0" i="0" dirty="0">
              <a:solidFill>
                <a:schemeClr val="accent2">
                  <a:lumMod val="10000"/>
                </a:schemeClr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lnSpc>
                <a:spcPts val="1650"/>
              </a:lnSpc>
            </a:pPr>
            <a:endParaRPr lang="en-US" altLang="zh-TW" sz="1600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l" fontAlgn="base">
              <a:lnSpc>
                <a:spcPts val="1650"/>
              </a:lnSpc>
              <a:buFont typeface="Wingdings" panose="05000000000000000000" pitchFamily="2" charset="2"/>
              <a:buChar char="l"/>
            </a:pP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我們收集的</a:t>
            </a:r>
            <a:r>
              <a:rPr lang="zh-TW" altLang="en-US" sz="1600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數據</a:t>
            </a: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與行為資料可以進一步用於 </a:t>
            </a:r>
            <a:r>
              <a:rPr lang="en-US" altLang="zh-TW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sz="1600" b="0" i="0" dirty="0">
                <a:solidFill>
                  <a:schemeClr val="accent2">
                    <a:lumMod val="10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預測與排程，這也是智慧能源管理的重點方向。</a:t>
            </a:r>
          </a:p>
        </p:txBody>
      </p:sp>
    </p:spTree>
    <p:extLst>
      <p:ext uri="{BB962C8B-B14F-4D97-AF65-F5344CB8AC3E}">
        <p14:creationId xmlns:p14="http://schemas.microsoft.com/office/powerpoint/2010/main" val="1791437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2">
            <a:extLst>
              <a:ext uri="{FF2B5EF4-FFF2-40B4-BE49-F238E27FC236}">
                <a16:creationId xmlns:a16="http://schemas.microsoft.com/office/drawing/2014/main" id="{38D45046-4B1F-72B3-3DF0-59497EF9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15950" cy="695915"/>
          </a:xfrm>
        </p:spPr>
        <p:txBody>
          <a:bodyPr/>
          <a:lstStyle/>
          <a:p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遇到的問題／解決</a:t>
            </a:r>
            <a:endParaRPr lang="zh-TW" altLang="en-US" sz="28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8425575-E776-F4E2-51AF-FADD9CAC66F2}"/>
              </a:ext>
            </a:extLst>
          </p:cNvPr>
          <p:cNvSpPr txBox="1"/>
          <p:nvPr/>
        </p:nvSpPr>
        <p:spPr>
          <a:xfrm>
            <a:off x="202940" y="1337466"/>
            <a:ext cx="43690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遇到無法使用 </a:t>
            </a:r>
            <a:r>
              <a:rPr lang="en-US" altLang="zh-TW" sz="18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php</a:t>
            </a:r>
            <a:r>
              <a:rPr lang="en-US" altLang="zh-TW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artisan serve</a:t>
            </a:r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啟動後端</a:t>
            </a:r>
          </a:p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環境架構執行出錯，導致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localhost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無法開啟，</a:t>
            </a:r>
          </a:p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網頁無法完整顯示、無法讀取後端資料</a:t>
            </a: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729E9F0-8348-A766-0449-53E63F80D2F4}"/>
              </a:ext>
            </a:extLst>
          </p:cNvPr>
          <p:cNvSpPr txBox="1"/>
          <p:nvPr/>
        </p:nvSpPr>
        <p:spPr>
          <a:xfrm>
            <a:off x="4854784" y="4147090"/>
            <a:ext cx="4152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改用原生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PHP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伺服器並使用其指令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fr-FR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php -S 127.0.0.1:8000 -t public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fr-FR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E61D0C51-F5ED-013C-8482-CA29513D940B}"/>
              </a:ext>
            </a:extLst>
          </p:cNvPr>
          <p:cNvGrpSpPr/>
          <p:nvPr/>
        </p:nvGrpSpPr>
        <p:grpSpPr>
          <a:xfrm>
            <a:off x="2032942" y="2612153"/>
            <a:ext cx="2710800" cy="1353960"/>
            <a:chOff x="2032942" y="2612153"/>
            <a:chExt cx="2710800" cy="13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CB0FE7A2-4122-2BA4-9E2D-BB039612AD3C}"/>
                    </a:ext>
                  </a:extLst>
                </p14:cNvPr>
                <p14:cNvContentPartPr/>
                <p14:nvPr/>
              </p14:nvContentPartPr>
              <p14:xfrm>
                <a:off x="2032942" y="2612153"/>
                <a:ext cx="2700000" cy="1353960"/>
              </p14:xfrm>
            </p:contentPart>
          </mc:Choice>
          <mc:Fallback xmlns=""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CB0FE7A2-4122-2BA4-9E2D-BB039612AD3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70302" y="2549513"/>
                  <a:ext cx="2825640" cy="14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95C78AEB-B12F-74CB-60A6-D0414E02F139}"/>
                    </a:ext>
                  </a:extLst>
                </p14:cNvPr>
                <p14:cNvContentPartPr/>
                <p14:nvPr/>
              </p14:nvContentPartPr>
              <p14:xfrm>
                <a:off x="4459702" y="3283913"/>
                <a:ext cx="284040" cy="234720"/>
              </p14:xfrm>
            </p:contentPart>
          </mc:Choice>
          <mc:Fallback xmlns=""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95C78AEB-B12F-74CB-60A6-D0414E02F13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97062" y="3221273"/>
                  <a:ext cx="4096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3186BE26-38FC-1404-0C4A-93EA2C37773D}"/>
                    </a:ext>
                  </a:extLst>
                </p14:cNvPr>
                <p14:cNvContentPartPr/>
                <p14:nvPr/>
              </p14:nvContentPartPr>
              <p14:xfrm>
                <a:off x="4496422" y="3517553"/>
                <a:ext cx="234360" cy="3031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3186BE26-38FC-1404-0C4A-93EA2C3777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33422" y="3454553"/>
                  <a:ext cx="360000" cy="428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9" name="圖片 28">
            <a:extLst>
              <a:ext uri="{FF2B5EF4-FFF2-40B4-BE49-F238E27FC236}">
                <a16:creationId xmlns:a16="http://schemas.microsoft.com/office/drawing/2014/main" id="{0453535C-10DB-CFC3-A4F8-012E097C7F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9510"/>
          <a:stretch>
            <a:fillRect/>
          </a:stretch>
        </p:blipFill>
        <p:spPr>
          <a:xfrm>
            <a:off x="4854784" y="1337466"/>
            <a:ext cx="4013536" cy="1694859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55C3FD72-B643-3E37-35F4-DF127C4682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4784" y="2452231"/>
            <a:ext cx="4013536" cy="169485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0195815-1C01-5E12-16C9-3EF5869D5F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774" y="596139"/>
            <a:ext cx="8577546" cy="6959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72C15A-FEA9-DB00-3B1A-95CA6864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4131425" cy="681644"/>
          </a:xfrm>
        </p:spPr>
        <p:txBody>
          <a:bodyPr/>
          <a:lstStyle/>
          <a:p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遇到的問題／解決</a:t>
            </a:r>
            <a:endParaRPr lang="zh-TW" alt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C8FBB45-7E79-F21B-7CEE-1EE1AEF9B42B}"/>
              </a:ext>
            </a:extLst>
          </p:cNvPr>
          <p:cNvSpPr txBox="1"/>
          <p:nvPr/>
        </p:nvSpPr>
        <p:spPr>
          <a:xfrm>
            <a:off x="245225" y="615143"/>
            <a:ext cx="30131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操作較複雜，易迷失方向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預約流程步驟多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錯誤提示不明顯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串接錯誤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404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27592C-7190-548C-4F6A-4C1842D4705B}"/>
              </a:ext>
            </a:extLst>
          </p:cNvPr>
          <p:cNvSpPr txBox="1"/>
          <p:nvPr/>
        </p:nvSpPr>
        <p:spPr>
          <a:xfrm>
            <a:off x="2750790" y="1607794"/>
            <a:ext cx="45803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改善方式：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增加流程提示指令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功能增加操作說明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所有表單加入驗證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明確的錯誤訊息與導引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3C4FDF9-CA22-A0BB-DDFB-18B98184BB49}"/>
              </a:ext>
            </a:extLst>
          </p:cNvPr>
          <p:cNvSpPr txBox="1"/>
          <p:nvPr/>
        </p:nvSpPr>
        <p:spPr>
          <a:xfrm>
            <a:off x="5444836" y="2931233"/>
            <a:ext cx="36991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收穫：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團隊熟悉前後端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Debug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也是變向加強身為解決問題的能力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強化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API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串接與流程設計能力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貼切了解使用者體驗的重要性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C87EC3C9-3227-1835-B4BA-C49922649BC1}"/>
                  </a:ext>
                </a:extLst>
              </p14:cNvPr>
              <p14:cNvContentPartPr/>
              <p14:nvPr/>
            </p14:nvContentPartPr>
            <p14:xfrm>
              <a:off x="5685644" y="2293625"/>
              <a:ext cx="1654920" cy="76248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C87EC3C9-3227-1835-B4BA-C49922649B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9644" y="2257985"/>
                <a:ext cx="1726560" cy="83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0BC20505-62A5-2527-AB8D-0482DDAEF214}"/>
                  </a:ext>
                </a:extLst>
              </p14:cNvPr>
              <p14:cNvContentPartPr/>
              <p14:nvPr/>
            </p14:nvContentPartPr>
            <p14:xfrm>
              <a:off x="1263404" y="1812305"/>
              <a:ext cx="1301400" cy="917280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0BC20505-62A5-2527-AB8D-0482DDAEF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7764" y="1776305"/>
                <a:ext cx="1373040" cy="9889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圖片 6" descr="一張含有 文字, 螢幕擷取畫面, 設計, 平面設計 的圖片&#10;&#10;AI 產生的內容可能不正確。">
            <a:extLst>
              <a:ext uri="{FF2B5EF4-FFF2-40B4-BE49-F238E27FC236}">
                <a16:creationId xmlns:a16="http://schemas.microsoft.com/office/drawing/2014/main" id="{BAF5BD69-9252-C2E5-AC1D-EF98EE137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62" y="2931233"/>
            <a:ext cx="4359287" cy="2252210"/>
          </a:xfrm>
          <a:prstGeom prst="rect">
            <a:avLst/>
          </a:prstGeom>
        </p:spPr>
      </p:pic>
      <p:pic>
        <p:nvPicPr>
          <p:cNvPr id="5" name="圖片 4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9E124989-31B7-718F-291A-99DF75C872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3443" y="3732640"/>
            <a:ext cx="2148906" cy="140092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12BAEFC-26C6-CD7C-92A6-44E3DB47FE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2349" y="9940"/>
            <a:ext cx="4282316" cy="206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9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9D42EE-C1E1-4FB8-134C-73948F6C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95759" cy="898216"/>
          </a:xfrm>
        </p:spPr>
        <p:txBody>
          <a:bodyPr/>
          <a:lstStyle/>
          <a:p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專題受益</a:t>
            </a:r>
            <a:endParaRPr lang="zh-TW" alt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26D8AB9-9F8B-A4ED-6565-26C719244D91}"/>
              </a:ext>
            </a:extLst>
          </p:cNvPr>
          <p:cNvSpPr txBox="1"/>
          <p:nvPr/>
        </p:nvSpPr>
        <p:spPr>
          <a:xfrm>
            <a:off x="267568" y="833480"/>
            <a:ext cx="45841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前後端串接能力大幅提升：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如何從前端發送 </a:t>
            </a:r>
            <a:r>
              <a:rPr lang="en-US" altLang="zh-TW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API Request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如何分析 </a:t>
            </a:r>
            <a:r>
              <a:rPr lang="en-US" altLang="zh-TW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API </a:t>
            </a: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回傳 </a:t>
            </a:r>
            <a:r>
              <a:rPr lang="en-US" altLang="zh-TW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JSON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如何處理權限、</a:t>
            </a:r>
            <a:r>
              <a:rPr lang="en-US" altLang="zh-TW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Token</a:t>
            </a: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、錯誤碼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如何 </a:t>
            </a:r>
            <a:r>
              <a:rPr lang="en-US" altLang="zh-TW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debug </a:t>
            </a:r>
            <a:r>
              <a:rPr lang="zh-TW" altLang="en-US" sz="1600" b="1" dirty="0">
                <a:solidFill>
                  <a:schemeClr val="tx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前端無法顯示資料的原因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341FA4-E841-1A02-A6B8-1EC00B7B06BC}"/>
              </a:ext>
            </a:extLst>
          </p:cNvPr>
          <p:cNvSpPr txBox="1"/>
          <p:nvPr/>
        </p:nvSpPr>
        <p:spPr>
          <a:xfrm>
            <a:off x="4559862" y="2494138"/>
            <a:ext cx="45841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過程中的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Debug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經驗：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環境架設的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miss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以至於無法啟動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靜態資源載入不到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Token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沒抓好導致串不到前後端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API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接不到資料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這些都不是一般學校課程上會遇到的，是屬於實戰級學習。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221BFB2-E0EE-D739-E1A0-3F8E7EB64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68" y="2494137"/>
            <a:ext cx="3847232" cy="181588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7F2D5CB-E4E6-B356-8A90-1ABA0166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862" y="449108"/>
            <a:ext cx="4203138" cy="20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64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37A30A-80F9-47DB-3A90-A31B2A89D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3252998" cy="882031"/>
          </a:xfrm>
        </p:spPr>
        <p:txBody>
          <a:bodyPr/>
          <a:lstStyle/>
          <a:p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專題受益</a:t>
            </a:r>
            <a:endParaRPr lang="zh-TW" alt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2E9A17-12B2-A02B-665E-ED97FA371CC8}"/>
              </a:ext>
            </a:extLst>
          </p:cNvPr>
          <p:cNvSpPr txBox="1"/>
          <p:nvPr/>
        </p:nvSpPr>
        <p:spPr>
          <a:xfrm>
            <a:off x="174023" y="715754"/>
            <a:ext cx="4497149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了解軟體開發中的「分工」與「協作」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我們的專題內容涉及：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前端：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UI/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互動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驗證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標楷體"/>
                <a:ea typeface="標楷體"/>
              </a:rPr>
              <a:t>後端：</a:t>
            </a:r>
            <a:r>
              <a:rPr lang="en-US" altLang="zh-TW" sz="1600" b="1" dirty="0">
                <a:latin typeface="標楷體"/>
                <a:ea typeface="標楷體"/>
              </a:rPr>
              <a:t>API/</a:t>
            </a:r>
            <a:r>
              <a:rPr lang="zh-TW" altLang="en-US" sz="1600" b="1" dirty="0">
                <a:latin typeface="標楷體"/>
                <a:ea typeface="標楷體"/>
              </a:rPr>
              <a:t>資料庫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串接設備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/API</a:t>
            </a: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E97B53-C774-DA6B-9F32-E28EB91524F9}"/>
              </a:ext>
            </a:extLst>
          </p:cNvPr>
          <p:cNvSpPr txBox="1"/>
          <p:nvPr/>
        </p:nvSpPr>
        <p:spPr>
          <a:xfrm>
            <a:off x="4458630" y="2448005"/>
            <a:ext cx="4772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專案管理與問題解決能力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學到如何面對「預期外的問題」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server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不跑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路徑錯誤找不到靜態資源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API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在 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postman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測試可用，但前端串不到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本機端與部署環境不一致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git 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合併衝突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09714B-9237-7332-A3CF-E0CFAF143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30" y="0"/>
            <a:ext cx="4438082" cy="227300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7454553-F1C8-36E4-022A-2B033AE30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151" y="1211654"/>
            <a:ext cx="1711257" cy="305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91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A1A7B1-5944-6B03-A51F-C9745E3A3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13650" cy="995320"/>
          </a:xfrm>
        </p:spPr>
        <p:txBody>
          <a:bodyPr/>
          <a:lstStyle/>
          <a:p>
            <a:r>
              <a:rPr lang="zh-TW" altLang="en-US" sz="2800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未來規劃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17F637D-18AC-A058-1252-1383112238CA}"/>
              </a:ext>
            </a:extLst>
          </p:cNvPr>
          <p:cNvSpPr txBox="1"/>
          <p:nvPr/>
        </p:nvSpPr>
        <p:spPr>
          <a:xfrm>
            <a:off x="1319002" y="801113"/>
            <a:ext cx="58437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實地試運與持續優化系統，逐步導入商業化市場應用</a:t>
            </a:r>
            <a:endParaRPr lang="en-US" altLang="zh-TW" sz="1800" b="1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與政府與企業建立產學合作關係，擴大市場推廣</a:t>
            </a:r>
            <a:endParaRPr lang="en-US" altLang="zh-TW" sz="1800" b="1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強化 </a:t>
            </a:r>
            <a:r>
              <a:rPr lang="en-US" altLang="zh-TW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演算法，提升能源管理與使用者互動功能支持綠能永續發展</a:t>
            </a:r>
            <a:endParaRPr lang="en-US" altLang="zh-TW" sz="1800" b="1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推出共享充電樁功能，允許擁有設備的業主在閒置時出租賺取收益</a:t>
            </a:r>
            <a:r>
              <a:rPr lang="en-US" altLang="zh-TW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en-US" altLang="zh-TW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8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推薦引擎：依據天氣與車流預測動態調整功率</a:t>
            </a:r>
            <a:endParaRPr lang="zh-TW" altLang="en-US" sz="1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018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3" name="Google Shape;3513;p62"/>
          <p:cNvPicPr preferRelativeResize="0"/>
          <p:nvPr/>
        </p:nvPicPr>
        <p:blipFill>
          <a:blip r:embed="rId3"/>
          <a:srcRect l="143" r="143"/>
          <a:stretch/>
        </p:blipFill>
        <p:spPr>
          <a:xfrm>
            <a:off x="4696641" y="1580762"/>
            <a:ext cx="2741302" cy="1589316"/>
          </a:xfrm>
          <a:prstGeom prst="rect">
            <a:avLst/>
          </a:prstGeom>
          <a:noFill/>
          <a:ln>
            <a:noFill/>
          </a:ln>
        </p:spPr>
      </p:pic>
      <p:sp>
        <p:nvSpPr>
          <p:cNvPr id="3514" name="Google Shape;3514;p62"/>
          <p:cNvSpPr txBox="1">
            <a:spLocks noGrp="1"/>
          </p:cNvSpPr>
          <p:nvPr>
            <p:ph type="body" idx="1"/>
          </p:nvPr>
        </p:nvSpPr>
        <p:spPr>
          <a:xfrm>
            <a:off x="267037" y="932772"/>
            <a:ext cx="3997466" cy="31617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>
              <a:buClr>
                <a:schemeClr val="dk1"/>
              </a:buClr>
              <a:buSzPts val="1100"/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 </a:t>
            </a:r>
            <a:r>
              <a:rPr lang="en-US" altLang="zh-TW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Flutter</a:t>
            </a:r>
            <a:r>
              <a:rPr lang="zh-TW" altLang="en-US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實作</a:t>
            </a:r>
            <a:endParaRPr lang="en-US" altLang="zh-TW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arenR"/>
            </a:pPr>
            <a:r>
              <a:rPr lang="zh-TW" altLang="en-US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Barlow Semi Condensed"/>
              </a:rPr>
              <a:t>可整合拍照</a:t>
            </a:r>
            <a:r>
              <a:rPr lang="en-US" altLang="zh-TW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Barlow Semi Condensed"/>
              </a:rPr>
              <a:t>/</a:t>
            </a:r>
            <a:r>
              <a:rPr lang="zh-TW" altLang="en-US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Barlow Semi Condensed"/>
              </a:rPr>
              <a:t>掃描 </a:t>
            </a:r>
            <a:r>
              <a:rPr lang="en-US" altLang="zh-TW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Barlow Semi Condensed"/>
              </a:rPr>
              <a:t>QR Code</a:t>
            </a:r>
            <a:r>
              <a:rPr lang="zh-TW" altLang="en-US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Barlow Semi Condensed"/>
              </a:rPr>
              <a:t>、推播通知等手機原生功能</a:t>
            </a:r>
            <a:endParaRPr lang="en-US" altLang="zh-TW"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sym typeface="Barlow Semi Condensed"/>
            </a:endParaRPr>
          </a:p>
          <a:p>
            <a:pPr marL="342900" lvl="0" indent="-342900">
              <a:buClr>
                <a:schemeClr val="dk1"/>
              </a:buClr>
              <a:buSzPts val="1100"/>
              <a:buFont typeface="+mj-lt"/>
              <a:buAutoNum type="arabicParenR"/>
            </a:pPr>
            <a:r>
              <a:rPr lang="zh-TW" altLang="en-US" b="1" dirty="0">
                <a:solidFill>
                  <a:schemeClr val="accent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sym typeface="Barlow Semi Condensed"/>
              </a:rPr>
              <a:t>介面以地圖呈現，顯示周邊充電站位置與可用裝置</a:t>
            </a:r>
            <a:endParaRPr b="1" dirty="0">
              <a:solidFill>
                <a:schemeClr val="accent2">
                  <a:lumMod val="1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sym typeface="Barlow Semi Condensed"/>
            </a:endParaRPr>
          </a:p>
        </p:txBody>
      </p:sp>
      <p:sp>
        <p:nvSpPr>
          <p:cNvPr id="3515" name="Google Shape;3515;p62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2">
                    <a:lumMod val="10000"/>
                  </a:schemeClr>
                </a:solidFill>
              </a:rPr>
              <a:t>Mobile App</a:t>
            </a:r>
            <a:endParaRPr b="1" dirty="0">
              <a:solidFill>
                <a:schemeClr val="accent2">
                  <a:lumMod val="10000"/>
                </a:schemeClr>
              </a:solidFill>
            </a:endParaRPr>
          </a:p>
        </p:txBody>
      </p:sp>
      <p:grpSp>
        <p:nvGrpSpPr>
          <p:cNvPr id="3516" name="Google Shape;3516;p62"/>
          <p:cNvGrpSpPr/>
          <p:nvPr/>
        </p:nvGrpSpPr>
        <p:grpSpPr>
          <a:xfrm>
            <a:off x="3831152" y="807450"/>
            <a:ext cx="4097650" cy="3780909"/>
            <a:chOff x="1230400" y="410075"/>
            <a:chExt cx="5124625" cy="4728500"/>
          </a:xfrm>
        </p:grpSpPr>
        <p:sp>
          <p:nvSpPr>
            <p:cNvPr id="3517" name="Google Shape;3517;p62"/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2"/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2"/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2"/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2"/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2"/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2"/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2"/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2"/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2"/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2"/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2"/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2"/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2"/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2"/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2"/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2"/>
            <p:cNvSpPr/>
            <p:nvPr/>
          </p:nvSpPr>
          <p:spPr>
            <a:xfrm>
              <a:off x="2971000" y="4123575"/>
              <a:ext cx="423525" cy="440400"/>
            </a:xfrm>
            <a:custGeom>
              <a:avLst/>
              <a:gdLst/>
              <a:ahLst/>
              <a:cxnLst/>
              <a:rect l="l" t="t" r="r" b="b"/>
              <a:pathLst>
                <a:path w="16941" h="17616" extrusionOk="0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2"/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2"/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2"/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2"/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2"/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2"/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2"/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2"/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2"/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2"/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2"/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2"/>
            <p:cNvSpPr/>
            <p:nvPr/>
          </p:nvSpPr>
          <p:spPr>
            <a:xfrm>
              <a:off x="2141675" y="1197625"/>
              <a:ext cx="3757700" cy="2818300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2"/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2"/>
            <p:cNvSpPr/>
            <p:nvPr/>
          </p:nvSpPr>
          <p:spPr>
            <a:xfrm>
              <a:off x="3951400" y="3727400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2"/>
            <p:cNvSpPr/>
            <p:nvPr/>
          </p:nvSpPr>
          <p:spPr>
            <a:xfrm>
              <a:off x="3943375" y="3720175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2"/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2"/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2"/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2"/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2"/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2"/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2"/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2"/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2"/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2"/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2"/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2"/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2"/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2"/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2"/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2"/>
            <p:cNvSpPr/>
            <p:nvPr/>
          </p:nvSpPr>
          <p:spPr>
            <a:xfrm>
              <a:off x="1745500" y="2598325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2"/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2"/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2"/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2"/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2"/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2"/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2"/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2"/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2"/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2"/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2"/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2"/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2"/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2"/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2"/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2"/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2"/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2"/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2"/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2"/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2"/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2"/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2"/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2"/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2"/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2"/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2"/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2"/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2"/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2"/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2"/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2"/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2"/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2"/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616340-9D8F-E322-862E-BFED0D4F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592864" cy="736375"/>
          </a:xfrm>
        </p:spPr>
        <p:txBody>
          <a:bodyPr/>
          <a:lstStyle/>
          <a:p>
            <a:r>
              <a:rPr lang="zh-TW" altLang="en-US" sz="1600" b="1" dirty="0">
                <a:solidFill>
                  <a:schemeClr val="accent2">
                    <a:lumMod val="1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心得與分工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8C0A827-132B-207A-7171-FBA5AE067A4B}"/>
              </a:ext>
            </a:extLst>
          </p:cNvPr>
          <p:cNvSpPr txBox="1"/>
          <p:nvPr/>
        </p:nvSpPr>
        <p:spPr>
          <a:xfrm>
            <a:off x="4167399" y="709491"/>
            <a:ext cx="4584138" cy="1055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版面設計與切版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根據設計稿製作網頁版面。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負責 </a:t>
            </a: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HTML/CSS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排版。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B6FA66-8EB8-3E69-4703-E617F4802F1A}"/>
              </a:ext>
            </a:extLst>
          </p:cNvPr>
          <p:cNvSpPr txBox="1"/>
          <p:nvPr/>
        </p:nvSpPr>
        <p:spPr>
          <a:xfrm>
            <a:off x="756604" y="1084078"/>
            <a:ext cx="4665058" cy="1055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功能開發與互動實作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負責前端互動功能開發。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包含按鈕點擊、表單驗證、資料渲染等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3F723D-1CF3-E9F9-57F8-96E796C7C757}"/>
              </a:ext>
            </a:extLst>
          </p:cNvPr>
          <p:cNvSpPr txBox="1"/>
          <p:nvPr/>
        </p:nvSpPr>
        <p:spPr>
          <a:xfrm>
            <a:off x="5421662" y="2363499"/>
            <a:ext cx="4685288" cy="1055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測試與除錯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負責頁面功能測試、版面檢查。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包含除錯 </a:t>
            </a: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(Debug)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、測試。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2FA2353-39C2-1F18-AB8C-5AF68FE8033B}"/>
              </a:ext>
            </a:extLst>
          </p:cNvPr>
          <p:cNvSpPr txBox="1"/>
          <p:nvPr/>
        </p:nvSpPr>
        <p:spPr>
          <a:xfrm>
            <a:off x="1023640" y="3004134"/>
            <a:ext cx="4689334" cy="1388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zh-TW" altLang="en-US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後端開發與資料庫設計</a:t>
            </a:r>
            <a:endParaRPr lang="zh-TW" altLang="en-US" sz="120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負責後端伺服器架構設計與 </a:t>
            </a:r>
            <a:r>
              <a:rPr lang="en-US" altLang="zh-TW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開發。</a:t>
            </a:r>
            <a:endParaRPr lang="zh-TW" altLang="en-US" sz="120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資料庫建置與資料處理邏輯撰寫。</a:t>
            </a:r>
            <a:endParaRPr lang="zh-TW" altLang="en-US" sz="120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確保 </a:t>
            </a:r>
            <a:r>
              <a:rPr lang="en-US" altLang="zh-TW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200" b="0" i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穩定運作並與前端正常串接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3D65AA1-6920-D376-5938-DC7F99D1D7EE}"/>
              </a:ext>
            </a:extLst>
          </p:cNvPr>
          <p:cNvSpPr txBox="1"/>
          <p:nvPr/>
        </p:nvSpPr>
        <p:spPr>
          <a:xfrm>
            <a:off x="4807251" y="3787464"/>
            <a:ext cx="4213927" cy="1055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串接與資料處理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負責與後端 </a:t>
            </a: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API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溝通。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2625"/>
              </a:lnSpc>
              <a:buNone/>
            </a:pPr>
            <a:r>
              <a:rPr lang="en-US" altLang="zh-TW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• </a:t>
            </a:r>
            <a:r>
              <a:rPr lang="zh-TW" altLang="en-US" sz="12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接收資料並串接到前端頁面，處理錯誤訊息。</a:t>
            </a:r>
            <a:endParaRPr lang="zh-TW" altLang="en-US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496C124-611F-B06C-F33F-57FF19941FAE}"/>
              </a:ext>
            </a:extLst>
          </p:cNvPr>
          <p:cNvSpPr txBox="1"/>
          <p:nvPr/>
        </p:nvSpPr>
        <p:spPr>
          <a:xfrm>
            <a:off x="4167399" y="571404"/>
            <a:ext cx="5057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連翊安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19C8EDD-7A35-DBBD-2708-5499335E0F78}"/>
              </a:ext>
            </a:extLst>
          </p:cNvPr>
          <p:cNvSpPr txBox="1"/>
          <p:nvPr/>
        </p:nvSpPr>
        <p:spPr>
          <a:xfrm>
            <a:off x="756604" y="890122"/>
            <a:ext cx="5057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王竑勛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6515C8D-3C15-3AD3-FC4C-0005800C8F90}"/>
              </a:ext>
            </a:extLst>
          </p:cNvPr>
          <p:cNvSpPr txBox="1"/>
          <p:nvPr/>
        </p:nvSpPr>
        <p:spPr>
          <a:xfrm>
            <a:off x="5421662" y="2179434"/>
            <a:ext cx="5057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吳哲維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0412B04-C55F-24FC-9DF4-5D845E232AC9}"/>
              </a:ext>
            </a:extLst>
          </p:cNvPr>
          <p:cNvSpPr txBox="1"/>
          <p:nvPr/>
        </p:nvSpPr>
        <p:spPr>
          <a:xfrm>
            <a:off x="4714620" y="3572677"/>
            <a:ext cx="5243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杜冠霖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389153B-9B3B-E5AD-4E89-B7AD3766038A}"/>
              </a:ext>
            </a:extLst>
          </p:cNvPr>
          <p:cNvSpPr txBox="1"/>
          <p:nvPr/>
        </p:nvSpPr>
        <p:spPr>
          <a:xfrm>
            <a:off x="1023640" y="2850245"/>
            <a:ext cx="788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吳偉誠</a:t>
            </a:r>
            <a:endParaRPr lang="zh-TW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5192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BB126C-8CAC-FD30-13D2-E3B46583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sz="8000" dirty="0"/>
              <a:t>Thanks!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C534C2E-87F5-90A9-60DE-72F671AA2E76}"/>
              </a:ext>
            </a:extLst>
          </p:cNvPr>
          <p:cNvSpPr txBox="1"/>
          <p:nvPr/>
        </p:nvSpPr>
        <p:spPr>
          <a:xfrm>
            <a:off x="2279985" y="3131295"/>
            <a:ext cx="4584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dirty="0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 you have any questions?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TW" dirty="0">
              <a:solidFill>
                <a:srgbClr val="59595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09081088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E8E004D78009444CA06B199D9918A7DD" ma:contentTypeVersion="7" ma:contentTypeDescription="建立新的文件。" ma:contentTypeScope="" ma:versionID="5902e7265c86fff6aa7b6d5c09d12a6d">
  <xsd:schema xmlns:xsd="http://www.w3.org/2001/XMLSchema" xmlns:xs="http://www.w3.org/2001/XMLSchema" xmlns:p="http://schemas.microsoft.com/office/2006/metadata/properties" xmlns:ns3="72447a7c-9348-40ef-b960-bfb0c4332493" targetNamespace="http://schemas.microsoft.com/office/2006/metadata/properties" ma:root="true" ma:fieldsID="a045f2dd45e9698c04295f3faaf7b965" ns3:_="">
    <xsd:import namespace="72447a7c-9348-40ef-b960-bfb0c433249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447a7c-9348-40ef-b960-bfb0c433249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2447a7c-9348-40ef-b960-bfb0c433249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217BE3-4052-4134-8CC5-1A30984729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447a7c-9348-40ef-b960-bfb0c43324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07FF36-7AC5-412B-B071-43A1C84C00EA}">
  <ds:schemaRefs>
    <ds:schemaRef ds:uri="http://schemas.microsoft.com/office/2006/documentManagement/types"/>
    <ds:schemaRef ds:uri="http://schemas.microsoft.com/office/2006/metadata/properties"/>
    <ds:schemaRef ds:uri="72447a7c-9348-40ef-b960-bfb0c4332493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09FAFDB-A7C4-47C0-8AE9-7447E67719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2617</Words>
  <Application>Microsoft Office PowerPoint</Application>
  <PresentationFormat>如螢幕大小 (16:9)</PresentationFormat>
  <Paragraphs>415</Paragraphs>
  <Slides>28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8" baseType="lpstr">
      <vt:lpstr>楷体</vt:lpstr>
      <vt:lpstr>標楷體</vt:lpstr>
      <vt:lpstr>gg sans</vt:lpstr>
      <vt:lpstr>Wingdings</vt:lpstr>
      <vt:lpstr>Arial</vt:lpstr>
      <vt:lpstr>Barlow Semi Condensed Medium</vt:lpstr>
      <vt:lpstr>Barlow Semi Condensed</vt:lpstr>
      <vt:lpstr>Roboto Condensed Light</vt:lpstr>
      <vt:lpstr>Fjalla One</vt:lpstr>
      <vt:lpstr>Technology Consulting by Slidesgo</vt:lpstr>
      <vt:lpstr>智能充電樁管理與應用 專題報告書</vt:lpstr>
      <vt:lpstr>目錄</vt:lpstr>
      <vt:lpstr> 研究背景與動機 隨著電動載具市場快速擴張，充電設備需求逐年提升，但現有充電系統普遍面臨：  充電樁資訊分散、查找不便  充電流程缺乏統一管理平台  設備閒置時段無法產生額外收益  預約與付款流程操作複雜   API 串接錯誤處理不明確、導致資料讀取失敗  因此，本專題以「智慧共享與能源管理」為核心，打造一個整合 前端、後端、資料庫、RESTful API、經銷租借模式與 SDG 永續目標 的充電管理平台。 </vt:lpstr>
      <vt:lpstr>本系統希望解決的核心問題：  建立可依角色管理與存取資料的平台架構  提供附近充電樁查詢與時段預約功能  整合付款與個人使用紀錄查詢  允許業主與經銷商在設備閒置時進行出租，創造被動收入  改善 API 串接錯誤、404 提示與流程導引機制 </vt:lpstr>
      <vt:lpstr>PowerPoint 簡報</vt:lpstr>
      <vt:lpstr>PowerPoint 簡報</vt:lpstr>
      <vt:lpstr>PowerPoint 簡報</vt:lpstr>
      <vt:lpstr>PowerPoint 簡報</vt:lpstr>
      <vt:lpstr>系統成果展示</vt:lpstr>
      <vt:lpstr>平台方後臺功能（統整管理中心）</vt:lpstr>
      <vt:lpstr>經銷商後臺功能</vt:lpstr>
      <vt:lpstr>經銷商後臺功能</vt:lpstr>
      <vt:lpstr>PowerPoint 簡報</vt:lpstr>
      <vt:lpstr>PowerPoint 簡報</vt:lpstr>
      <vt:lpstr>PowerPoint 簡報</vt:lpstr>
      <vt:lpstr>PowerPoint 簡報</vt:lpstr>
      <vt:lpstr>PowerPoint 簡報</vt:lpstr>
      <vt:lpstr>跟其他共享式平台差別在哪？</vt:lpstr>
      <vt:lpstr>跟其他共享式平台差別在哪？</vt:lpstr>
      <vt:lpstr>優勢在哪：</vt:lpstr>
      <vt:lpstr>遇到的問題／解決</vt:lpstr>
      <vt:lpstr>遇到的問題／解決</vt:lpstr>
      <vt:lpstr>專題受益</vt:lpstr>
      <vt:lpstr>專題受益</vt:lpstr>
      <vt:lpstr>未來規劃</vt:lpstr>
      <vt:lpstr>Mobile App</vt:lpstr>
      <vt:lpstr>心得與分工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杜霖</dc:creator>
  <cp:lastModifiedBy>吳哲維</cp:lastModifiedBy>
  <cp:revision>22</cp:revision>
  <dcterms:modified xsi:type="dcterms:W3CDTF">2025-12-03T17:45:32Z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0x010100E8E004D78009444CA06B199D9918A7DD</vt:lpwstr>
  </property>
</Properties>
</file>